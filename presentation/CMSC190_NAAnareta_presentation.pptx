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Audiowide" charset="1" panose="02000503000000020004"/>
      <p:regular r:id="rId31"/>
    </p:embeddedFont>
    <p:embeddedFont>
      <p:font typeface="Work Sans Bold" charset="1" panose="00000000000000000000"/>
      <p:regular r:id="rId32"/>
    </p:embeddedFont>
    <p:embeddedFont>
      <p:font typeface="Work Sans" charset="1" panose="00000000000000000000"/>
      <p:regular r:id="rId34"/>
    </p:embeddedFont>
    <p:embeddedFont>
      <p:font typeface="Work Sans Heavy" charset="1" panose="00000000000000000000"/>
      <p:regular r:id="rId53"/>
    </p:embeddedFont>
    <p:embeddedFont>
      <p:font typeface="Albert Sans Heavy" charset="1" panose="00000000000000000000"/>
      <p:regular r:id="rId54"/>
    </p:embeddedFont>
    <p:embeddedFont>
      <p:font typeface="Work Sans Ultra-Bold" charset="1" panose="00000000000000000000"/>
      <p:regular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notesMasters/notesMaster1.xml" Type="http://schemas.openxmlformats.org/officeDocument/2006/relationships/notesMaster"/><Relationship Id="rId29" Target="theme/theme2.xml" Type="http://schemas.openxmlformats.org/officeDocument/2006/relationships/theme"/><Relationship Id="rId3" Target="viewProps.xml" Type="http://schemas.openxmlformats.org/officeDocument/2006/relationships/viewProps"/><Relationship Id="rId30" Target="notesSlides/notesSlide1.xml" Type="http://schemas.openxmlformats.org/officeDocument/2006/relationships/notesSlide"/><Relationship Id="rId31" Target="fonts/font31.fntdata" Type="http://schemas.openxmlformats.org/officeDocument/2006/relationships/font"/><Relationship Id="rId32" Target="fonts/font32.fntdata" Type="http://schemas.openxmlformats.org/officeDocument/2006/relationships/font"/><Relationship Id="rId33" Target="notesSlides/notesSlide2.xml" Type="http://schemas.openxmlformats.org/officeDocument/2006/relationships/notesSlide"/><Relationship Id="rId34" Target="fonts/font34.fntdata" Type="http://schemas.openxmlformats.org/officeDocument/2006/relationships/font"/><Relationship Id="rId35" Target="notesSlides/notesSlide3.xml" Type="http://schemas.openxmlformats.org/officeDocument/2006/relationships/notesSlide"/><Relationship Id="rId36" Target="notesSlides/notesSlide4.xml" Type="http://schemas.openxmlformats.org/officeDocument/2006/relationships/notesSlide"/><Relationship Id="rId37" Target="notesSlides/notesSlide5.xml" Type="http://schemas.openxmlformats.org/officeDocument/2006/relationships/notesSlide"/><Relationship Id="rId38" Target="notesSlides/notesSlide6.xml" Type="http://schemas.openxmlformats.org/officeDocument/2006/relationships/notesSlide"/><Relationship Id="rId39" Target="notesSlides/notesSlide7.xml" Type="http://schemas.openxmlformats.org/officeDocument/2006/relationships/notesSlide"/><Relationship Id="rId4" Target="theme/theme1.xml" Type="http://schemas.openxmlformats.org/officeDocument/2006/relationships/theme"/><Relationship Id="rId40" Target="notesSlides/notesSlide8.xml" Type="http://schemas.openxmlformats.org/officeDocument/2006/relationships/notesSlide"/><Relationship Id="rId41" Target="notesSlides/notesSlide9.xml" Type="http://schemas.openxmlformats.org/officeDocument/2006/relationships/notesSlide"/><Relationship Id="rId42" Target="notesSlides/notesSlide10.xml" Type="http://schemas.openxmlformats.org/officeDocument/2006/relationships/notesSlide"/><Relationship Id="rId43" Target="notesSlides/notesSlide11.xml" Type="http://schemas.openxmlformats.org/officeDocument/2006/relationships/notesSlide"/><Relationship Id="rId44" Target="notesSlides/notesSlide12.xml" Type="http://schemas.openxmlformats.org/officeDocument/2006/relationships/notesSlide"/><Relationship Id="rId45" Target="notesSlides/notesSlide13.xml" Type="http://schemas.openxmlformats.org/officeDocument/2006/relationships/notesSlide"/><Relationship Id="rId46" Target="notesSlides/notesSlide14.xml" Type="http://schemas.openxmlformats.org/officeDocument/2006/relationships/notesSlide"/><Relationship Id="rId47" Target="notesSlides/notesSlide15.xml" Type="http://schemas.openxmlformats.org/officeDocument/2006/relationships/notesSlide"/><Relationship Id="rId48" Target="notesSlides/notesSlide16.xml" Type="http://schemas.openxmlformats.org/officeDocument/2006/relationships/notesSlide"/><Relationship Id="rId49" Target="notesSlides/notesSlide17.xml" Type="http://schemas.openxmlformats.org/officeDocument/2006/relationships/notesSlide"/><Relationship Id="rId5" Target="tableStyles.xml" Type="http://schemas.openxmlformats.org/officeDocument/2006/relationships/tableStyles"/><Relationship Id="rId50" Target="notesSlides/notesSlide18.xml" Type="http://schemas.openxmlformats.org/officeDocument/2006/relationships/notesSlide"/><Relationship Id="rId51" Target="notesSlides/notesSlide19.xml" Type="http://schemas.openxmlformats.org/officeDocument/2006/relationships/notesSlide"/><Relationship Id="rId52" Target="notesSlides/notesSlide20.xml" Type="http://schemas.openxmlformats.org/officeDocument/2006/relationships/notesSlide"/><Relationship Id="rId53" Target="fonts/font53.fntdata" Type="http://schemas.openxmlformats.org/officeDocument/2006/relationships/font"/><Relationship Id="rId54" Target="fonts/font54.fntdata" Type="http://schemas.openxmlformats.org/officeDocument/2006/relationships/font"/><Relationship Id="rId55" Target="notesSlides/notesSlide21.xml" Type="http://schemas.openxmlformats.org/officeDocument/2006/relationships/notesSlide"/><Relationship Id="rId56" Target="fonts/font56.fntdata" Type="http://schemas.openxmlformats.org/officeDocument/2006/relationships/font"/><Relationship Id="rId57" Target="notesSlides/notesSlide22.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day, everyone. My name is Nadine Anareta, and I will be presenting my Special Problem titled: 'AI Model Zoo Module for SPIDHIVE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the Philippines, staple crops like rice and corn are highly vulnerable to pests and diseases, which severely disrupt our food supply. To build datasets of these threats, a companion application is utilized to collect raw field images, which are then centralized and stored within SPIDHIVE.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the actual diagnosis, farmers utilize the SPIDTECH+, which relies on AI models to instantly identify these pests and diseases. However, a critical limitation existed in this ecosystem.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While SPIDHIVE effectively managed the raw images, it lacked an existing, localized AI Model Zoo.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Because there was no centralized repository to manage and store the AI models themselves, there was no streamlined way to make updated models easily accessible for deployment to SPIDTECH+.</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Therefore, the objective of this study was to develop a localized 'AI Model Zoo' integrated directly into SPIDHIVE. This includes implementing an API to serve as a bridge for cross-platform synchronization and evaluating the system's usability with expert developers.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By accelerating the deployment of accurate crop diagnostic tools, SPIDHIVE directly advances SDG 2: Zero Hunger by empowering farmers to prevent devastating yield losses and secure the nation's food supply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Furthermore, the platform supports SDG 15: Life on Land by facilitating highly targeted pest management, which protects agricultural biodiversity and reduces the ecological harm caused by the excessive use of broad-spectrum pesticides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build this, I utilized ReactJS with VITE for the frontend and NodeJS with Express for the backend API. MySQL is used as the main database for SPIDHIVE. The most critical architectural decision was the integration of Supabase as a dedicated mobile backend.</a:t>
            </a:r>
          </a:p>
          <a:p>
            <a:r>
              <a:rPr lang="en-US"/>
              <a:t/>
            </a:r>
          </a:p>
          <a:p>
            <a:r>
              <a:rPr lang="en-US"/>
              <a:t>This architecture minimizes payload delivery times and prevents our primary server from bottlenecks.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architecture functions as a bidirectional distribution hub:</a:t>
            </a:r>
          </a:p>
          <a:p>
            <a:r>
              <a:rPr lang="en-US"/>
              <a:t/>
            </a:r>
          </a:p>
          <a:p>
            <a:r>
              <a:rPr lang="en-US"/>
              <a:t>Downstream: SPIDHIVE packages and pushes compiled .tflite AI models down to Supabase, where the SPIDTECH+ mobile app can immediately download them for offline, edge-based inference.</a:t>
            </a:r>
          </a:p>
          <a:p>
            <a:r>
              <a:rPr lang="en-US"/>
              <a:t/>
            </a:r>
          </a:p>
          <a:p>
            <a:r>
              <a:rPr lang="en-US"/>
              <a:t>Upstream: Conversely, images captured by users in the field are sent up to Supabase, which are then mirrored back onto the SPIDHIVE web dashboard for expert annotation.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demonstrate how the AI developers utilize this system, here is a sample flow.</a:t>
            </a:r>
          </a:p>
          <a:p>
            <a:r>
              <a:rPr lang="en-US"/>
              <a:t/>
            </a:r>
          </a:p>
          <a:p>
            <a:r>
              <a:rPr lang="en-US"/>
              <a:t>Before accessing the AI Model Zoo, users must log in through an upgraded authentication system. I implemented bcrypt for password encryption to resolve an existing vulnerability in the SPIDHIVE platform where passwords were previously stored as plain text. This upgrade ensures strict data security and prevents potential data breaches. </a:t>
            </a:r>
          </a:p>
          <a:p>
            <a:r>
              <a:rPr lang="en-US"/>
              <a:t/>
            </a:r>
          </a:p>
          <a:p>
            <a:r>
              <a:rPr lang="en-US"/>
              <a:t>Additionally, I introduced a newly defined "AI Developer" user role, which is explicitly tailored for users who need to manage and deploy machine learning assets.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minimize the learning curve, the AI Model Zoo interface was designed using Shadcn UI and Tailwind CSS to perfectly match the existing SPIDHIVE aesthetic. On the left, we have a multi-attribute filter to quickly query models based on architecture, target crops, or model type. </a:t>
            </a:r>
          </a:p>
          <a:p>
            <a:r>
              <a:rPr lang="en-US"/>
              <a:t/>
            </a:r>
          </a:p>
          <a:p>
            <a:r>
              <a:rPr lang="en-US"/>
              <a:t>Each model card previews essential metadata and provides deep-link navigation directly to specific module tabs, such as Images or Analytics.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major focus of this study was reducing developer cognitive load. When a developer uploads a ZIP archive containing their training artifacts, the system automatically parses the files. As you can see, it automatically extracts the neural network architecture, the performance metrics, and the evaluation graphs without requiring manual data entry.</a:t>
            </a:r>
          </a:p>
          <a:p>
            <a:r>
              <a:rPr lang="en-US"/>
              <a:t/>
            </a:r>
          </a:p>
          <a:p>
            <a:r>
              <a:rPr lang="en-US"/>
              <a:t>The developer can select the dataset used and the parent AI model, if necessary. They can also upload a README file or auto-generate a customized text for documentation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Once published, we can view the model's specification page, including a direct download for the .tflite artifact. If we navigate to the Images tab, we can see the dataset used in the training of the AI Model.</a:t>
            </a:r>
          </a:p>
          <a:p>
            <a:r>
              <a:rPr lang="en-US"/>
              <a:t/>
            </a:r>
          </a:p>
          <a:p>
            <a:r>
              <a:rPr lang="en-US"/>
              <a:t>To support iterative development, the Versions tab tracks the complete lineage of our models, showing exactly which parent models they were based on, and which descendants have been fine-tuned from them.</a:t>
            </a:r>
          </a:p>
          <a:p>
            <a:r>
              <a:rPr lang="en-US"/>
              <a:t/>
            </a:r>
          </a:p>
          <a:p>
            <a:r>
              <a:rPr lang="en-US"/>
              <a:t>If we navigate to the Analytics tab, the system utilizes the Recharts library to dynamically visualize the model's performance metrics and evaluation graphs.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streamline the editing process, the interface automatically pre-populates all input fields with the model's current metadata. This maintains data continuity and perfectly mirrors the smooth, automated experience of the initial publishing workflow, allowing developers to quickly update details without having to re-enter information from scratch.</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protect the integrity of the repository, only the original owner or creator of an AI model has the authority to delete it. Furthermore, because these AI models are valuable technical assets, I implemented a strict two-step authentication process for deletion. Before an artifact is permanently removed, the developer must explicitly re-enter their password to confirm the action, safely preventing any accidental data loss.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help administrators monitor the overall health and activity of the system, I developed a centralized Statistics dashboard. This page provides a clear, real-time summary report of SPIDHIVE's core operations, tracking datasets, user contributions, and AI model deployments. For offline tracking and reporting, stakeholders can easily download this entire summary as a fully formatted, multi-sheet Excel file with just one click.</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Next, the "My Account" page was completely redesigned to guarantee visual consistency with the rest of the new modules. </a:t>
            </a:r>
          </a:p>
          <a:p>
            <a:r>
              <a:rPr lang="en-US"/>
              <a:t/>
            </a:r>
          </a:p>
          <a:p>
            <a:r>
              <a:rPr lang="en-US"/>
              <a:t>General "Contributors" only see tools for images and annotations, whereas "AI Developers" access a specialized AI Models dashboard. </a:t>
            </a:r>
          </a:p>
          <a:p>
            <a:r>
              <a:rPr lang="en-US"/>
              <a:t/>
            </a:r>
          </a:p>
          <a:p>
            <a:r>
              <a:rPr lang="en-US"/>
              <a:t>From here, users can seamlessly edit their profiles, and developers can view a complete table of their uploaded models, complete with a recovery function to instantly restore archived or deleted models back to public view.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Finally, for dataset compilation, developers can download custom ZIP archives. The system automatically partitions the raw images into randomized training, validation, and testing subsets to mitigate overfitting. Crucially, it also auto-generates a .yaml configuration file with fixed numerical class indices, which actively prevents class confusion when a developer retrains the model.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evaluate the functional efficiency of this platform, a purposive sample of five expert AI Developers tested the system using the Concurrent Think-Aloud protocol.</a:t>
            </a:r>
          </a:p>
          <a:p>
            <a:r>
              <a:rPr lang="en-US"/>
              <a:t/>
            </a:r>
          </a:p>
          <a:p>
            <a:r>
              <a:rPr lang="en-US"/>
              <a:t>Following the testing, the system achieved an SUS score of 88.0. According to established benchmarks, this places the AI Model Zoo firmly in the 'Excellent' category.</a:t>
            </a:r>
          </a:p>
          <a:p>
            <a:r>
              <a:rPr lang="en-US"/>
              <a:t/>
            </a:r>
          </a:p>
          <a:p>
            <a:r>
              <a:rPr lang="en-US"/>
              <a:t>Qualitatively, the testers specifically praised the workflow automation—such as the auto-parsing of .zip artifacts—and confirmed that the backend APIs successfully and securely managed the data fetching.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conclusion, this study successfully developed a centralized management platform that bridges the gap between web-based AI model development and practical, mobile field deployment. </a:t>
            </a:r>
          </a:p>
          <a:p>
            <a:r>
              <a:rPr lang="en-US"/>
              <a:t/>
            </a:r>
          </a:p>
          <a:p>
            <a:r>
              <a:rPr lang="en-US"/>
              <a:t>The bidirectional architecture ensures that SPIDTECH+ users receive the latest diagnostic tools, while experts continuously receive fresh field data.</a:t>
            </a:r>
          </a:p>
          <a:p>
            <a:r>
              <a:rPr lang="en-US"/>
              <a:t/>
            </a:r>
          </a:p>
          <a:p>
            <a:r>
              <a:rPr lang="en-US"/>
              <a:t>For future work, the immediate recommendation is the phased integration and database migration of this module from our secure staging environment into the live SPIDHIVE production server.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 you for your time. I am now open to your questions.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4.png" Type="http://schemas.openxmlformats.org/officeDocument/2006/relationships/image"/><Relationship Id="rId4"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4.png" Type="http://schemas.openxmlformats.org/officeDocument/2006/relationships/image"/><Relationship Id="rId4"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2.jpeg" Type="http://schemas.openxmlformats.org/officeDocument/2006/relationships/image"/><Relationship Id="rId4" Target="../media/VAHKKdNNIiw.mp4" Type="http://schemas.openxmlformats.org/officeDocument/2006/relationships/video"/><Relationship Id="rId5" Target="../media/VAHKKdNNIiw.mp4" Type="http://schemas.microsoft.com/office/2007/relationships/media"/></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23.jpeg" Type="http://schemas.openxmlformats.org/officeDocument/2006/relationships/image"/><Relationship Id="rId4" Target="../media/VAHKGOXlScQ.mp4" Type="http://schemas.openxmlformats.org/officeDocument/2006/relationships/video"/><Relationship Id="rId5" Target="../media/VAHKGOXlScQ.mp4" Type="http://schemas.microsoft.com/office/2007/relationships/media"/></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4.jpeg" Type="http://schemas.openxmlformats.org/officeDocument/2006/relationships/image"/><Relationship Id="rId4" Target="../media/VAHKGDioU-0.mp4" Type="http://schemas.openxmlformats.org/officeDocument/2006/relationships/video"/><Relationship Id="rId5" Target="../media/VAHKGDioU-0.mp4" Type="http://schemas.microsoft.com/office/2007/relationships/media"/></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5.jpeg" Type="http://schemas.openxmlformats.org/officeDocument/2006/relationships/image"/><Relationship Id="rId4" Target="../media/VAHKGLXh640.mp4" Type="http://schemas.openxmlformats.org/officeDocument/2006/relationships/video"/><Relationship Id="rId5" Target="../media/VAHKGLXh640.mp4" Type="http://schemas.microsoft.com/office/2007/relationships/media"/></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6.jpeg" Type="http://schemas.openxmlformats.org/officeDocument/2006/relationships/image"/><Relationship Id="rId4" Target="../media/VAHKKbYLGkg.mp4" Type="http://schemas.openxmlformats.org/officeDocument/2006/relationships/video"/><Relationship Id="rId5" Target="../media/VAHKKbYLGkg.mp4" Type="http://schemas.microsoft.com/office/2007/relationships/media"/></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7.jpeg" Type="http://schemas.openxmlformats.org/officeDocument/2006/relationships/image"/><Relationship Id="rId4" Target="../media/VAHKKcGFPDw.mp4" Type="http://schemas.openxmlformats.org/officeDocument/2006/relationships/video"/><Relationship Id="rId5" Target="../media/VAHKKcGFPDw.mp4" Type="http://schemas.microsoft.com/office/2007/relationships/media"/></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28.jpeg" Type="http://schemas.openxmlformats.org/officeDocument/2006/relationships/image"/><Relationship Id="rId4" Target="../media/VAHKKRXeREg.mp4" Type="http://schemas.openxmlformats.org/officeDocument/2006/relationships/video"/><Relationship Id="rId5" Target="../media/VAHKKRXeREg.mp4" Type="http://schemas.microsoft.com/office/2007/relationships/media"/></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9.jpeg" Type="http://schemas.openxmlformats.org/officeDocument/2006/relationships/image"/><Relationship Id="rId4" Target="../media/VAHKKbfI418.mp4" Type="http://schemas.openxmlformats.org/officeDocument/2006/relationships/video"/><Relationship Id="rId5" Target="../media/VAHKKbfI418.mp4" Type="http://schemas.microsoft.com/office/2007/relationships/media"/></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30.jpeg" Type="http://schemas.openxmlformats.org/officeDocument/2006/relationships/image"/><Relationship Id="rId4" Target="../media/VAHKGFBQYpU.mp4" Type="http://schemas.openxmlformats.org/officeDocument/2006/relationships/video"/><Relationship Id="rId5" Target="../media/VAHKGFBQYpU.mp4" Type="http://schemas.microsoft.com/office/2007/relationships/media"/></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31.png" Type="http://schemas.openxmlformats.org/officeDocument/2006/relationships/image"/><Relationship Id="rId4" Target="../media/image3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sp>
        <p:nvSpPr>
          <p:cNvPr name="Freeform 2" id="2"/>
          <p:cNvSpPr/>
          <p:nvPr/>
        </p:nvSpPr>
        <p:spPr>
          <a:xfrm flipH="false" flipV="false" rot="0">
            <a:off x="10770827" y="2254469"/>
            <a:ext cx="5778062" cy="5778062"/>
          </a:xfrm>
          <a:custGeom>
            <a:avLst/>
            <a:gdLst/>
            <a:ahLst/>
            <a:cxnLst/>
            <a:rect r="r" b="b" t="t" l="l"/>
            <a:pathLst>
              <a:path h="5778062" w="5778062">
                <a:moveTo>
                  <a:pt x="0" y="0"/>
                </a:moveTo>
                <a:lnTo>
                  <a:pt x="5778063" y="0"/>
                </a:lnTo>
                <a:lnTo>
                  <a:pt x="5778063" y="5778062"/>
                </a:lnTo>
                <a:lnTo>
                  <a:pt x="0" y="5778062"/>
                </a:lnTo>
                <a:lnTo>
                  <a:pt x="0" y="0"/>
                </a:lnTo>
                <a:close/>
              </a:path>
            </a:pathLst>
          </a:custGeom>
          <a:blipFill>
            <a:blip r:embed="rId3"/>
            <a:stretch>
              <a:fillRect l="0" t="0" r="0" b="0"/>
            </a:stretch>
          </a:blipFill>
        </p:spPr>
      </p:sp>
      <p:sp>
        <p:nvSpPr>
          <p:cNvPr name="Freeform 3" id="3"/>
          <p:cNvSpPr/>
          <p:nvPr/>
        </p:nvSpPr>
        <p:spPr>
          <a:xfrm flipH="false" flipV="false" rot="0">
            <a:off x="1984107" y="-917306"/>
            <a:ext cx="17266931" cy="1834611"/>
          </a:xfrm>
          <a:custGeom>
            <a:avLst/>
            <a:gdLst/>
            <a:ahLst/>
            <a:cxnLst/>
            <a:rect r="r" b="b" t="t" l="l"/>
            <a:pathLst>
              <a:path h="1834611" w="17266931">
                <a:moveTo>
                  <a:pt x="0" y="0"/>
                </a:moveTo>
                <a:lnTo>
                  <a:pt x="17266931" y="0"/>
                </a:lnTo>
                <a:lnTo>
                  <a:pt x="17266931" y="1834612"/>
                </a:lnTo>
                <a:lnTo>
                  <a:pt x="0" y="18346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2728553"/>
            <a:ext cx="9163824" cy="4658443"/>
          </a:xfrm>
          <a:prstGeom prst="rect">
            <a:avLst/>
          </a:prstGeom>
        </p:spPr>
        <p:txBody>
          <a:bodyPr anchor="t" rtlCol="false" tIns="0" lIns="0" bIns="0" rIns="0">
            <a:spAutoFit/>
          </a:bodyPr>
          <a:lstStyle/>
          <a:p>
            <a:pPr algn="l">
              <a:lnSpc>
                <a:spcPts val="12414"/>
              </a:lnSpc>
              <a:spcBef>
                <a:spcPct val="0"/>
              </a:spcBef>
            </a:pPr>
            <a:r>
              <a:rPr lang="en-US" sz="8867">
                <a:solidFill>
                  <a:srgbClr val="742622"/>
                </a:solidFill>
                <a:latin typeface="Audiowide"/>
                <a:ea typeface="Audiowide"/>
                <a:cs typeface="Audiowide"/>
                <a:sym typeface="Audiowide"/>
              </a:rPr>
              <a:t>AI Model Zoo Module for SPIDHIVE</a:t>
            </a:r>
          </a:p>
        </p:txBody>
      </p:sp>
      <p:sp>
        <p:nvSpPr>
          <p:cNvPr name="TextBox 5" id="5"/>
          <p:cNvSpPr txBox="true"/>
          <p:nvPr/>
        </p:nvSpPr>
        <p:spPr>
          <a:xfrm rot="0">
            <a:off x="1028700" y="8736449"/>
            <a:ext cx="9742127" cy="521851"/>
          </a:xfrm>
          <a:prstGeom prst="rect">
            <a:avLst/>
          </a:prstGeom>
        </p:spPr>
        <p:txBody>
          <a:bodyPr anchor="t" rtlCol="false" tIns="0" lIns="0" bIns="0" rIns="0">
            <a:spAutoFit/>
          </a:bodyPr>
          <a:lstStyle/>
          <a:p>
            <a:pPr algn="ctr">
              <a:lnSpc>
                <a:spcPts val="4235"/>
              </a:lnSpc>
              <a:spcBef>
                <a:spcPct val="0"/>
              </a:spcBef>
            </a:pPr>
            <a:r>
              <a:rPr lang="en-US" b="true" sz="3025">
                <a:solidFill>
                  <a:srgbClr val="3C7440"/>
                </a:solidFill>
                <a:latin typeface="Work Sans Bold"/>
                <a:ea typeface="Work Sans Bold"/>
                <a:cs typeface="Work Sans Bold"/>
                <a:sym typeface="Work Sans Bold"/>
              </a:rPr>
              <a:t>NADINE ARABEL ANARETA &amp; VAL RANDOLF MADRID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grpSp>
        <p:nvGrpSpPr>
          <p:cNvPr name="Group 2" id="2"/>
          <p:cNvGrpSpPr/>
          <p:nvPr/>
        </p:nvGrpSpPr>
        <p:grpSpPr>
          <a:xfrm rot="0">
            <a:off x="1028700" y="-747259"/>
            <a:ext cx="6061111" cy="11781518"/>
            <a:chOff x="0" y="0"/>
            <a:chExt cx="1596342" cy="3102951"/>
          </a:xfrm>
        </p:grpSpPr>
        <p:sp>
          <p:nvSpPr>
            <p:cNvPr name="Freeform 3" id="3"/>
            <p:cNvSpPr/>
            <p:nvPr/>
          </p:nvSpPr>
          <p:spPr>
            <a:xfrm flipH="false" flipV="false" rot="0">
              <a:off x="0" y="0"/>
              <a:ext cx="1596342" cy="3102951"/>
            </a:xfrm>
            <a:custGeom>
              <a:avLst/>
              <a:gdLst/>
              <a:ahLst/>
              <a:cxnLst/>
              <a:rect r="r" b="b" t="t" l="l"/>
              <a:pathLst>
                <a:path h="3102951" w="1596342">
                  <a:moveTo>
                    <a:pt x="63866" y="0"/>
                  </a:moveTo>
                  <a:lnTo>
                    <a:pt x="1532477" y="0"/>
                  </a:lnTo>
                  <a:cubicBezTo>
                    <a:pt x="1549415" y="0"/>
                    <a:pt x="1565659" y="6729"/>
                    <a:pt x="1577636" y="18706"/>
                  </a:cubicBezTo>
                  <a:cubicBezTo>
                    <a:pt x="1589613" y="30683"/>
                    <a:pt x="1596342" y="46927"/>
                    <a:pt x="1596342" y="63866"/>
                  </a:cubicBezTo>
                  <a:lnTo>
                    <a:pt x="1596342" y="3039086"/>
                  </a:lnTo>
                  <a:cubicBezTo>
                    <a:pt x="1596342" y="3056024"/>
                    <a:pt x="1589613" y="3072268"/>
                    <a:pt x="1577636" y="3084245"/>
                  </a:cubicBezTo>
                  <a:cubicBezTo>
                    <a:pt x="1565659" y="3096223"/>
                    <a:pt x="1549415" y="3102951"/>
                    <a:pt x="1532477" y="3102951"/>
                  </a:cubicBezTo>
                  <a:lnTo>
                    <a:pt x="63866" y="3102951"/>
                  </a:lnTo>
                  <a:cubicBezTo>
                    <a:pt x="46927" y="3102951"/>
                    <a:pt x="30683" y="3096223"/>
                    <a:pt x="18706" y="3084245"/>
                  </a:cubicBezTo>
                  <a:cubicBezTo>
                    <a:pt x="6729" y="3072268"/>
                    <a:pt x="0" y="3056024"/>
                    <a:pt x="0" y="3039086"/>
                  </a:cubicBezTo>
                  <a:lnTo>
                    <a:pt x="0" y="63866"/>
                  </a:lnTo>
                  <a:cubicBezTo>
                    <a:pt x="0" y="46927"/>
                    <a:pt x="6729" y="30683"/>
                    <a:pt x="18706" y="18706"/>
                  </a:cubicBezTo>
                  <a:cubicBezTo>
                    <a:pt x="30683" y="6729"/>
                    <a:pt x="46927" y="0"/>
                    <a:pt x="63866" y="0"/>
                  </a:cubicBezTo>
                  <a:close/>
                </a:path>
              </a:pathLst>
            </a:custGeom>
            <a:solidFill>
              <a:srgbClr val="3C7440"/>
            </a:solidFill>
          </p:spPr>
        </p:sp>
        <p:sp>
          <p:nvSpPr>
            <p:cNvPr name="TextBox 4" id="4"/>
            <p:cNvSpPr txBox="true"/>
            <p:nvPr/>
          </p:nvSpPr>
          <p:spPr>
            <a:xfrm>
              <a:off x="0" y="-47625"/>
              <a:ext cx="1596342" cy="3150576"/>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379910" y="1244017"/>
            <a:ext cx="5358691" cy="7798965"/>
          </a:xfrm>
          <a:custGeom>
            <a:avLst/>
            <a:gdLst/>
            <a:ahLst/>
            <a:cxnLst/>
            <a:rect r="r" b="b" t="t" l="l"/>
            <a:pathLst>
              <a:path h="7798965" w="5358691">
                <a:moveTo>
                  <a:pt x="0" y="0"/>
                </a:moveTo>
                <a:lnTo>
                  <a:pt x="5358691" y="0"/>
                </a:lnTo>
                <a:lnTo>
                  <a:pt x="5358691" y="7798966"/>
                </a:lnTo>
                <a:lnTo>
                  <a:pt x="0" y="7798966"/>
                </a:lnTo>
                <a:lnTo>
                  <a:pt x="0" y="0"/>
                </a:lnTo>
                <a:close/>
              </a:path>
            </a:pathLst>
          </a:custGeom>
          <a:blipFill>
            <a:blip r:embed="rId3"/>
            <a:stretch>
              <a:fillRect l="-17937" t="0" r="-100097" b="0"/>
            </a:stretch>
          </a:blipFill>
        </p:spPr>
      </p:sp>
      <p:sp>
        <p:nvSpPr>
          <p:cNvPr name="TextBox 6" id="6"/>
          <p:cNvSpPr txBox="true"/>
          <p:nvPr/>
        </p:nvSpPr>
        <p:spPr>
          <a:xfrm rot="0">
            <a:off x="9144000" y="2649144"/>
            <a:ext cx="6399003" cy="4893462"/>
          </a:xfrm>
          <a:prstGeom prst="rect">
            <a:avLst/>
          </a:prstGeom>
        </p:spPr>
        <p:txBody>
          <a:bodyPr anchor="t" rtlCol="false" tIns="0" lIns="0" bIns="0" rIns="0">
            <a:spAutoFit/>
          </a:bodyPr>
          <a:lstStyle/>
          <a:p>
            <a:pPr algn="ctr">
              <a:lnSpc>
                <a:spcPts val="6538"/>
              </a:lnSpc>
              <a:spcBef>
                <a:spcPct val="0"/>
              </a:spcBef>
            </a:pPr>
            <a:r>
              <a:rPr lang="en-US" sz="4670">
                <a:solidFill>
                  <a:srgbClr val="242526"/>
                </a:solidFill>
                <a:latin typeface="Work Sans"/>
                <a:ea typeface="Work Sans"/>
                <a:cs typeface="Work Sans"/>
                <a:sym typeface="Work Sans"/>
              </a:rPr>
              <a:t> Staple cr</a:t>
            </a:r>
            <a:r>
              <a:rPr lang="en-US" sz="4670">
                <a:solidFill>
                  <a:srgbClr val="242526"/>
                </a:solidFill>
                <a:latin typeface="Work Sans"/>
                <a:ea typeface="Work Sans"/>
                <a:cs typeface="Work Sans"/>
                <a:sym typeface="Work Sans"/>
              </a:rPr>
              <a:t>ops are highly vulnerable to pests and diseases, which severely disrupt our food supply</a:t>
            </a:r>
          </a:p>
        </p:txBody>
      </p:sp>
    </p:spTree>
  </p:cSld>
  <p:clrMapOvr>
    <a:masterClrMapping/>
  </p:clrMapOvr>
  <p:transition spd="slow">
    <p:push dir="r"/>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sp>
        <p:nvSpPr>
          <p:cNvPr name="Freeform 2" id="2"/>
          <p:cNvSpPr/>
          <p:nvPr/>
        </p:nvSpPr>
        <p:spPr>
          <a:xfrm flipH="false" flipV="false" rot="0">
            <a:off x="14496399" y="-326008"/>
            <a:ext cx="4936231" cy="10939016"/>
          </a:xfrm>
          <a:custGeom>
            <a:avLst/>
            <a:gdLst/>
            <a:ahLst/>
            <a:cxnLst/>
            <a:rect r="r" b="b" t="t" l="l"/>
            <a:pathLst>
              <a:path h="10939016" w="4936231">
                <a:moveTo>
                  <a:pt x="0" y="0"/>
                </a:moveTo>
                <a:lnTo>
                  <a:pt x="4936231" y="0"/>
                </a:lnTo>
                <a:lnTo>
                  <a:pt x="4936231" y="10939016"/>
                </a:lnTo>
                <a:lnTo>
                  <a:pt x="0" y="109390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a:grpSpLocks noChangeAspect="true"/>
          </p:cNvGrpSpPr>
          <p:nvPr/>
        </p:nvGrpSpPr>
        <p:grpSpPr>
          <a:xfrm rot="0">
            <a:off x="10665163" y="1611223"/>
            <a:ext cx="5901213" cy="11676563"/>
            <a:chOff x="0" y="0"/>
            <a:chExt cx="2620010" cy="5184140"/>
          </a:xfrm>
        </p:grpSpPr>
        <p:sp>
          <p:nvSpPr>
            <p:cNvPr name="Freeform 4" id="4"/>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5" id="5"/>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0" t="-743" r="0" b="-743"/>
              </a:stretch>
            </a:blipFill>
          </p:spPr>
        </p:sp>
        <p:sp>
          <p:nvSpPr>
            <p:cNvPr name="Freeform 6" id="6"/>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7" id="7"/>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8" id="8"/>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9" id="9"/>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0" id="10"/>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11" id="11"/>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12" id="12"/>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13" id="13"/>
          <p:cNvSpPr txBox="true"/>
          <p:nvPr/>
        </p:nvSpPr>
        <p:spPr>
          <a:xfrm rot="0">
            <a:off x="1275967" y="3210855"/>
            <a:ext cx="7614592" cy="3750990"/>
          </a:xfrm>
          <a:prstGeom prst="rect">
            <a:avLst/>
          </a:prstGeom>
        </p:spPr>
        <p:txBody>
          <a:bodyPr anchor="t" rtlCol="false" tIns="0" lIns="0" bIns="0" rIns="0">
            <a:spAutoFit/>
          </a:bodyPr>
          <a:lstStyle/>
          <a:p>
            <a:pPr algn="ctr">
              <a:lnSpc>
                <a:spcPts val="7452"/>
              </a:lnSpc>
              <a:spcBef>
                <a:spcPct val="0"/>
              </a:spcBef>
            </a:pPr>
            <a:r>
              <a:rPr lang="en-US" b="true" sz="5323">
                <a:solidFill>
                  <a:srgbClr val="3C7440"/>
                </a:solidFill>
                <a:latin typeface="Work Sans Bold"/>
                <a:ea typeface="Work Sans Bold"/>
                <a:cs typeface="Work Sans Bold"/>
                <a:sym typeface="Work Sans Bold"/>
              </a:rPr>
              <a:t>SPIDTECH+</a:t>
            </a:r>
            <a:r>
              <a:rPr lang="en-US" sz="5323">
                <a:solidFill>
                  <a:srgbClr val="000000"/>
                </a:solidFill>
                <a:latin typeface="Work Sans"/>
                <a:ea typeface="Work Sans"/>
                <a:cs typeface="Work Sans"/>
                <a:sym typeface="Work Sans"/>
              </a:rPr>
              <a:t> allows farmers to remotely monitor and identify these threats using AI.</a:t>
            </a:r>
          </a:p>
        </p:txBody>
      </p:sp>
    </p:spTree>
  </p:cSld>
  <p:clrMapOvr>
    <a:masterClrMapping/>
  </p:clrMapOvr>
  <p:transition spd="slow">
    <p:push dir="u"/>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sp>
        <p:nvSpPr>
          <p:cNvPr name="Freeform 2" id="2"/>
          <p:cNvSpPr/>
          <p:nvPr/>
        </p:nvSpPr>
        <p:spPr>
          <a:xfrm flipH="false" flipV="false" rot="0">
            <a:off x="289863" y="327905"/>
            <a:ext cx="5550513" cy="10963977"/>
          </a:xfrm>
          <a:custGeom>
            <a:avLst/>
            <a:gdLst/>
            <a:ahLst/>
            <a:cxnLst/>
            <a:rect r="r" b="b" t="t" l="l"/>
            <a:pathLst>
              <a:path h="10963977" w="5550513">
                <a:moveTo>
                  <a:pt x="0" y="0"/>
                </a:moveTo>
                <a:lnTo>
                  <a:pt x="5550513" y="0"/>
                </a:lnTo>
                <a:lnTo>
                  <a:pt x="5550513" y="10963977"/>
                </a:lnTo>
                <a:lnTo>
                  <a:pt x="0" y="109639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a:grpSpLocks noChangeAspect="true"/>
          </p:cNvGrpSpPr>
          <p:nvPr/>
        </p:nvGrpSpPr>
        <p:grpSpPr>
          <a:xfrm rot="0">
            <a:off x="289863" y="3468922"/>
            <a:ext cx="11331027" cy="6499340"/>
            <a:chOff x="0" y="0"/>
            <a:chExt cx="7981950" cy="4578350"/>
          </a:xfrm>
        </p:grpSpPr>
        <p:sp>
          <p:nvSpPr>
            <p:cNvPr name="Freeform 4" id="4"/>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name="Freeform 5" id="5"/>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p:spPr>
        </p:sp>
        <p:sp>
          <p:nvSpPr>
            <p:cNvPr name="Freeform 6" id="6"/>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p:spPr>
        </p:sp>
        <p:sp>
          <p:nvSpPr>
            <p:cNvPr name="Freeform 7" id="7"/>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p:spPr>
        </p:sp>
        <p:sp>
          <p:nvSpPr>
            <p:cNvPr name="Freeform 8" id="8"/>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5"/>
              <a:stretch>
                <a:fillRect l="-5630" t="0" r="-5630" b="0"/>
              </a:stretch>
            </a:blipFill>
          </p:spPr>
        </p:sp>
      </p:grpSp>
      <p:sp>
        <p:nvSpPr>
          <p:cNvPr name="TextBox 9" id="9"/>
          <p:cNvSpPr txBox="true"/>
          <p:nvPr/>
        </p:nvSpPr>
        <p:spPr>
          <a:xfrm rot="0">
            <a:off x="10913845" y="2267839"/>
            <a:ext cx="6345455" cy="5637022"/>
          </a:xfrm>
          <a:prstGeom prst="rect">
            <a:avLst/>
          </a:prstGeom>
        </p:spPr>
        <p:txBody>
          <a:bodyPr anchor="t" rtlCol="false" tIns="0" lIns="0" bIns="0" rIns="0">
            <a:spAutoFit/>
          </a:bodyPr>
          <a:lstStyle/>
          <a:p>
            <a:pPr algn="ctr">
              <a:lnSpc>
                <a:spcPts val="7447"/>
              </a:lnSpc>
              <a:spcBef>
                <a:spcPct val="0"/>
              </a:spcBef>
            </a:pPr>
            <a:r>
              <a:rPr lang="en-US" sz="5319">
                <a:solidFill>
                  <a:srgbClr val="000000"/>
                </a:solidFill>
                <a:latin typeface="Work Sans"/>
                <a:ea typeface="Work Sans"/>
                <a:cs typeface="Work Sans"/>
                <a:sym typeface="Work Sans"/>
              </a:rPr>
              <a:t>Data c</a:t>
            </a:r>
            <a:r>
              <a:rPr lang="en-US" sz="5319">
                <a:solidFill>
                  <a:srgbClr val="000000"/>
                </a:solidFill>
                <a:latin typeface="Work Sans"/>
                <a:ea typeface="Work Sans"/>
                <a:cs typeface="Work Sans"/>
                <a:sym typeface="Work Sans"/>
              </a:rPr>
              <a:t>ollected from the mobile app is sent to a centralized web platform called </a:t>
            </a:r>
            <a:r>
              <a:rPr lang="en-US" b="true" sz="5319">
                <a:solidFill>
                  <a:srgbClr val="742622"/>
                </a:solidFill>
                <a:latin typeface="Work Sans Bold"/>
                <a:ea typeface="Work Sans Bold"/>
                <a:cs typeface="Work Sans Bold"/>
                <a:sym typeface="Work Sans Bold"/>
              </a:rPr>
              <a:t>SPIDHIVE</a:t>
            </a:r>
            <a:r>
              <a:rPr lang="en-US" sz="5319">
                <a:solidFill>
                  <a:srgbClr val="000000"/>
                </a:solidFill>
                <a:latin typeface="Work Sans"/>
                <a:ea typeface="Work Sans"/>
                <a:cs typeface="Work Sans"/>
                <a:sym typeface="Work Sans"/>
              </a:rPr>
              <a:t>. </a:t>
            </a:r>
          </a:p>
        </p:txBody>
      </p:sp>
    </p:spTree>
  </p:cSld>
  <p:clrMapOvr>
    <a:masterClrMapping/>
  </p:clrMapOvr>
  <p:transition spd="slow">
    <p:push dir="u"/>
  </p:transition>
</p:sld>
</file>

<file path=ppt/slides/slide5.xml><?xml version="1.0" encoding="utf-8"?>
<p:sld xmlns:p="http://schemas.openxmlformats.org/presentationml/2006/main" xmlns:a="http://schemas.openxmlformats.org/drawingml/2006/main">
  <p:cSld>
    <p:bg>
      <p:bgPr>
        <a:solidFill>
          <a:srgbClr val="FFFEF5"/>
        </a:solidFill>
      </p:bgPr>
    </p:bg>
    <p:spTree>
      <p:nvGrpSpPr>
        <p:cNvPr id="1" name=""/>
        <p:cNvGrpSpPr/>
        <p:nvPr/>
      </p:nvGrpSpPr>
      <p:grpSpPr>
        <a:xfrm>
          <a:off x="0" y="0"/>
          <a:ext cx="0" cy="0"/>
          <a:chOff x="0" y="0"/>
          <a:chExt cx="0" cy="0"/>
        </a:xfrm>
      </p:grpSpPr>
      <p:grpSp>
        <p:nvGrpSpPr>
          <p:cNvPr name="Group 2" id="2"/>
          <p:cNvGrpSpPr/>
          <p:nvPr/>
        </p:nvGrpSpPr>
        <p:grpSpPr>
          <a:xfrm rot="0">
            <a:off x="9144000" y="0"/>
            <a:ext cx="9144000" cy="10287000"/>
            <a:chOff x="0" y="0"/>
            <a:chExt cx="2408296" cy="2709333"/>
          </a:xfrm>
        </p:grpSpPr>
        <p:sp>
          <p:nvSpPr>
            <p:cNvPr name="Freeform 3" id="3"/>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649C3E"/>
            </a:solidFill>
          </p:spPr>
        </p:sp>
        <p:sp>
          <p:nvSpPr>
            <p:cNvPr name="TextBox 4" id="4"/>
            <p:cNvSpPr txBox="true"/>
            <p:nvPr/>
          </p:nvSpPr>
          <p:spPr>
            <a:xfrm>
              <a:off x="0" y="-57150"/>
              <a:ext cx="2408296" cy="2766483"/>
            </a:xfrm>
            <a:prstGeom prst="rect">
              <a:avLst/>
            </a:prstGeom>
          </p:spPr>
          <p:txBody>
            <a:bodyPr anchor="ctr" rtlCol="false" tIns="50800" lIns="50800" bIns="50800" rIns="50800"/>
            <a:lstStyle/>
            <a:p>
              <a:pPr algn="ctr">
                <a:lnSpc>
                  <a:spcPts val="3639"/>
                </a:lnSpc>
              </a:pPr>
            </a:p>
          </p:txBody>
        </p:sp>
      </p:grpSp>
      <p:sp>
        <p:nvSpPr>
          <p:cNvPr name="TextBox 5" id="5"/>
          <p:cNvSpPr txBox="true"/>
          <p:nvPr/>
        </p:nvSpPr>
        <p:spPr>
          <a:xfrm rot="0">
            <a:off x="691411" y="1885950"/>
            <a:ext cx="7699147" cy="6381750"/>
          </a:xfrm>
          <a:prstGeom prst="rect">
            <a:avLst/>
          </a:prstGeom>
        </p:spPr>
        <p:txBody>
          <a:bodyPr anchor="t" rtlCol="false" tIns="0" lIns="0" bIns="0" rIns="0">
            <a:spAutoFit/>
          </a:bodyPr>
          <a:lstStyle/>
          <a:p>
            <a:pPr algn="ctr">
              <a:lnSpc>
                <a:spcPts val="8400"/>
              </a:lnSpc>
              <a:spcBef>
                <a:spcPct val="0"/>
              </a:spcBef>
            </a:pPr>
            <a:r>
              <a:rPr lang="en-US" sz="6000">
                <a:solidFill>
                  <a:srgbClr val="000000"/>
                </a:solidFill>
                <a:latin typeface="Work Sans"/>
                <a:ea typeface="Work Sans"/>
                <a:cs typeface="Work Sans"/>
                <a:sym typeface="Work Sans"/>
              </a:rPr>
              <a:t> Lacked a </a:t>
            </a:r>
            <a:r>
              <a:rPr lang="en-US" b="true" sz="6000">
                <a:solidFill>
                  <a:srgbClr val="742622"/>
                </a:solidFill>
                <a:latin typeface="Work Sans Bold"/>
                <a:ea typeface="Work Sans Bold"/>
                <a:cs typeface="Work Sans Bold"/>
                <a:sym typeface="Work Sans Bold"/>
              </a:rPr>
              <a:t>centralized mechanism</a:t>
            </a:r>
            <a:r>
              <a:rPr lang="en-US" sz="6000">
                <a:solidFill>
                  <a:srgbClr val="000000"/>
                </a:solidFill>
                <a:latin typeface="Work Sans"/>
                <a:ea typeface="Work Sans"/>
                <a:cs typeface="Work Sans"/>
                <a:sym typeface="Work Sans"/>
              </a:rPr>
              <a:t> t</a:t>
            </a:r>
            <a:r>
              <a:rPr lang="en-US" sz="6000">
                <a:solidFill>
                  <a:srgbClr val="000000"/>
                </a:solidFill>
                <a:latin typeface="Work Sans"/>
                <a:ea typeface="Work Sans"/>
                <a:cs typeface="Work Sans"/>
                <a:sym typeface="Work Sans"/>
              </a:rPr>
              <a:t>o manage, store, and deploy the actual AI models themselves</a:t>
            </a:r>
          </a:p>
        </p:txBody>
      </p:sp>
      <p:sp>
        <p:nvSpPr>
          <p:cNvPr name="TextBox 6" id="6"/>
          <p:cNvSpPr txBox="true"/>
          <p:nvPr/>
        </p:nvSpPr>
        <p:spPr>
          <a:xfrm rot="0">
            <a:off x="10114820" y="2419350"/>
            <a:ext cx="7329369" cy="5314950"/>
          </a:xfrm>
          <a:prstGeom prst="rect">
            <a:avLst/>
          </a:prstGeom>
        </p:spPr>
        <p:txBody>
          <a:bodyPr anchor="t" rtlCol="false" tIns="0" lIns="0" bIns="0" rIns="0">
            <a:spAutoFit/>
          </a:bodyPr>
          <a:lstStyle/>
          <a:p>
            <a:pPr algn="ctr">
              <a:lnSpc>
                <a:spcPts val="8400"/>
              </a:lnSpc>
              <a:spcBef>
                <a:spcPct val="0"/>
              </a:spcBef>
            </a:pPr>
            <a:r>
              <a:rPr lang="en-US" b="true" sz="6000">
                <a:solidFill>
                  <a:srgbClr val="742622"/>
                </a:solidFill>
                <a:latin typeface="Work Sans Bold"/>
                <a:ea typeface="Work Sans Bold"/>
                <a:cs typeface="Work Sans Bold"/>
                <a:sym typeface="Work Sans Bold"/>
              </a:rPr>
              <a:t>No streamlined pipeline</a:t>
            </a:r>
            <a:r>
              <a:rPr lang="en-US" sz="6000">
                <a:solidFill>
                  <a:srgbClr val="FFFEF5"/>
                </a:solidFill>
                <a:latin typeface="Work Sans"/>
                <a:ea typeface="Work Sans"/>
                <a:cs typeface="Work Sans"/>
                <a:sym typeface="Work Sans"/>
              </a:rPr>
              <a:t> t</a:t>
            </a:r>
            <a:r>
              <a:rPr lang="en-US" sz="6000">
                <a:solidFill>
                  <a:srgbClr val="FFFEF5"/>
                </a:solidFill>
                <a:latin typeface="Work Sans"/>
                <a:ea typeface="Work Sans"/>
                <a:cs typeface="Work Sans"/>
                <a:sym typeface="Work Sans"/>
              </a:rPr>
              <a:t>o get an updated AI model from SPIDHIVE to SPIDTECH+</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380087"/>
            <a:chOff x="0" y="0"/>
            <a:chExt cx="4274726" cy="2207101"/>
          </a:xfrm>
        </p:grpSpPr>
        <p:sp>
          <p:nvSpPr>
            <p:cNvPr name="Freeform 3" id="3"/>
            <p:cNvSpPr/>
            <p:nvPr/>
          </p:nvSpPr>
          <p:spPr>
            <a:xfrm flipH="false" flipV="false" rot="0">
              <a:off x="0" y="0"/>
              <a:ext cx="4274726" cy="2207101"/>
            </a:xfrm>
            <a:custGeom>
              <a:avLst/>
              <a:gdLst/>
              <a:ahLst/>
              <a:cxnLst/>
              <a:rect r="r" b="b" t="t" l="l"/>
              <a:pathLst>
                <a:path h="2207101" w="4274726">
                  <a:moveTo>
                    <a:pt x="23850" y="0"/>
                  </a:moveTo>
                  <a:lnTo>
                    <a:pt x="4250876" y="0"/>
                  </a:lnTo>
                  <a:cubicBezTo>
                    <a:pt x="4257201" y="0"/>
                    <a:pt x="4263268" y="2513"/>
                    <a:pt x="4267741" y="6985"/>
                  </a:cubicBezTo>
                  <a:cubicBezTo>
                    <a:pt x="4272213" y="11458"/>
                    <a:pt x="4274726" y="17524"/>
                    <a:pt x="4274726" y="23850"/>
                  </a:cubicBezTo>
                  <a:lnTo>
                    <a:pt x="4274726" y="2183251"/>
                  </a:lnTo>
                  <a:cubicBezTo>
                    <a:pt x="4274726" y="2196423"/>
                    <a:pt x="4264048" y="2207101"/>
                    <a:pt x="4250876" y="2207101"/>
                  </a:cubicBezTo>
                  <a:lnTo>
                    <a:pt x="23850" y="2207101"/>
                  </a:lnTo>
                  <a:cubicBezTo>
                    <a:pt x="17524" y="2207101"/>
                    <a:pt x="11458" y="2204588"/>
                    <a:pt x="6985" y="2200116"/>
                  </a:cubicBezTo>
                  <a:cubicBezTo>
                    <a:pt x="2513" y="2195643"/>
                    <a:pt x="0" y="2189577"/>
                    <a:pt x="0" y="2183251"/>
                  </a:cubicBezTo>
                  <a:lnTo>
                    <a:pt x="0" y="23850"/>
                  </a:lnTo>
                  <a:cubicBezTo>
                    <a:pt x="0" y="17524"/>
                    <a:pt x="2513" y="11458"/>
                    <a:pt x="6985" y="6985"/>
                  </a:cubicBezTo>
                  <a:cubicBezTo>
                    <a:pt x="11458" y="2513"/>
                    <a:pt x="17524" y="0"/>
                    <a:pt x="23850" y="0"/>
                  </a:cubicBezTo>
                  <a:close/>
                </a:path>
              </a:pathLst>
            </a:custGeom>
            <a:solidFill>
              <a:srgbClr val="3C7440"/>
            </a:solidFill>
          </p:spPr>
        </p:sp>
        <p:sp>
          <p:nvSpPr>
            <p:cNvPr name="TextBox 4" id="4"/>
            <p:cNvSpPr txBox="true"/>
            <p:nvPr/>
          </p:nvSpPr>
          <p:spPr>
            <a:xfrm>
              <a:off x="0" y="-57150"/>
              <a:ext cx="4274726" cy="2264251"/>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3456366">
            <a:off x="3663094" y="893549"/>
            <a:ext cx="12135860" cy="16729502"/>
          </a:xfrm>
          <a:custGeom>
            <a:avLst/>
            <a:gdLst/>
            <a:ahLst/>
            <a:cxnLst/>
            <a:rect r="r" b="b" t="t" l="l"/>
            <a:pathLst>
              <a:path h="16729502" w="12135860">
                <a:moveTo>
                  <a:pt x="0" y="0"/>
                </a:moveTo>
                <a:lnTo>
                  <a:pt x="12135859" y="0"/>
                </a:lnTo>
                <a:lnTo>
                  <a:pt x="12135859" y="16729502"/>
                </a:lnTo>
                <a:lnTo>
                  <a:pt x="0" y="167295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a:grpSpLocks noChangeAspect="true"/>
          </p:cNvGrpSpPr>
          <p:nvPr/>
        </p:nvGrpSpPr>
        <p:grpSpPr>
          <a:xfrm rot="0">
            <a:off x="1855032" y="4406897"/>
            <a:ext cx="14577936" cy="8361728"/>
            <a:chOff x="0" y="0"/>
            <a:chExt cx="7981950" cy="4578350"/>
          </a:xfrm>
        </p:grpSpPr>
        <p:sp>
          <p:nvSpPr>
            <p:cNvPr name="Freeform 7" id="7"/>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name="Freeform 8" id="8"/>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p:spPr>
        </p:sp>
        <p:sp>
          <p:nvSpPr>
            <p:cNvPr name="Freeform 9" id="9"/>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p:spPr>
        </p:sp>
        <p:sp>
          <p:nvSpPr>
            <p:cNvPr name="Freeform 10" id="10"/>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p:spPr>
        </p:sp>
        <p:sp>
          <p:nvSpPr>
            <p:cNvPr name="Freeform 11" id="11"/>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5"/>
              <a:stretch>
                <a:fillRect l="-5630" t="0" r="-5630" b="0"/>
              </a:stretch>
            </a:blipFill>
          </p:spPr>
        </p:sp>
      </p:grpSp>
      <p:sp>
        <p:nvSpPr>
          <p:cNvPr name="TextBox 12" id="12"/>
          <p:cNvSpPr txBox="true"/>
          <p:nvPr/>
        </p:nvSpPr>
        <p:spPr>
          <a:xfrm rot="0">
            <a:off x="2240783" y="1847614"/>
            <a:ext cx="13806434" cy="2114550"/>
          </a:xfrm>
          <a:prstGeom prst="rect">
            <a:avLst/>
          </a:prstGeom>
        </p:spPr>
        <p:txBody>
          <a:bodyPr anchor="t" rtlCol="false" tIns="0" lIns="0" bIns="0" rIns="0">
            <a:spAutoFit/>
          </a:bodyPr>
          <a:lstStyle/>
          <a:p>
            <a:pPr algn="ctr">
              <a:lnSpc>
                <a:spcPts val="8400"/>
              </a:lnSpc>
              <a:spcBef>
                <a:spcPct val="0"/>
              </a:spcBef>
            </a:pPr>
            <a:r>
              <a:rPr lang="en-US" sz="6000">
                <a:solidFill>
                  <a:srgbClr val="FFFEF5"/>
                </a:solidFill>
                <a:latin typeface="Work Sans"/>
                <a:ea typeface="Work Sans"/>
                <a:cs typeface="Work Sans"/>
                <a:sym typeface="Work Sans"/>
              </a:rPr>
              <a:t>Localized AI Model Z</a:t>
            </a:r>
            <a:r>
              <a:rPr lang="en-US" sz="6000">
                <a:solidFill>
                  <a:srgbClr val="FFFEF5"/>
                </a:solidFill>
                <a:latin typeface="Work Sans"/>
                <a:ea typeface="Work Sans"/>
                <a:cs typeface="Work Sans"/>
                <a:sym typeface="Work Sans"/>
              </a:rPr>
              <a:t>oo integrated directly into SPIDHIVE</a:t>
            </a:r>
          </a:p>
        </p:txBody>
      </p:sp>
    </p:spTree>
  </p:cSld>
  <p:clrMapOvr>
    <a:masterClrMapping/>
  </p:clrMapOvr>
  <p:transition spd="slow">
    <p:push dir="r"/>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grpSp>
        <p:nvGrpSpPr>
          <p:cNvPr name="Group 2" id="2"/>
          <p:cNvGrpSpPr/>
          <p:nvPr/>
        </p:nvGrpSpPr>
        <p:grpSpPr>
          <a:xfrm rot="0">
            <a:off x="1028700" y="-747259"/>
            <a:ext cx="6061111" cy="11781518"/>
            <a:chOff x="0" y="0"/>
            <a:chExt cx="1596342" cy="3102951"/>
          </a:xfrm>
        </p:grpSpPr>
        <p:sp>
          <p:nvSpPr>
            <p:cNvPr name="Freeform 3" id="3"/>
            <p:cNvSpPr/>
            <p:nvPr/>
          </p:nvSpPr>
          <p:spPr>
            <a:xfrm flipH="false" flipV="false" rot="0">
              <a:off x="0" y="0"/>
              <a:ext cx="1596342" cy="3102951"/>
            </a:xfrm>
            <a:custGeom>
              <a:avLst/>
              <a:gdLst/>
              <a:ahLst/>
              <a:cxnLst/>
              <a:rect r="r" b="b" t="t" l="l"/>
              <a:pathLst>
                <a:path h="3102951" w="1596342">
                  <a:moveTo>
                    <a:pt x="63866" y="0"/>
                  </a:moveTo>
                  <a:lnTo>
                    <a:pt x="1532477" y="0"/>
                  </a:lnTo>
                  <a:cubicBezTo>
                    <a:pt x="1549415" y="0"/>
                    <a:pt x="1565659" y="6729"/>
                    <a:pt x="1577636" y="18706"/>
                  </a:cubicBezTo>
                  <a:cubicBezTo>
                    <a:pt x="1589613" y="30683"/>
                    <a:pt x="1596342" y="46927"/>
                    <a:pt x="1596342" y="63866"/>
                  </a:cubicBezTo>
                  <a:lnTo>
                    <a:pt x="1596342" y="3039086"/>
                  </a:lnTo>
                  <a:cubicBezTo>
                    <a:pt x="1596342" y="3056024"/>
                    <a:pt x="1589613" y="3072268"/>
                    <a:pt x="1577636" y="3084245"/>
                  </a:cubicBezTo>
                  <a:cubicBezTo>
                    <a:pt x="1565659" y="3096223"/>
                    <a:pt x="1549415" y="3102951"/>
                    <a:pt x="1532477" y="3102951"/>
                  </a:cubicBezTo>
                  <a:lnTo>
                    <a:pt x="63866" y="3102951"/>
                  </a:lnTo>
                  <a:cubicBezTo>
                    <a:pt x="46927" y="3102951"/>
                    <a:pt x="30683" y="3096223"/>
                    <a:pt x="18706" y="3084245"/>
                  </a:cubicBezTo>
                  <a:cubicBezTo>
                    <a:pt x="6729" y="3072268"/>
                    <a:pt x="0" y="3056024"/>
                    <a:pt x="0" y="3039086"/>
                  </a:cubicBezTo>
                  <a:lnTo>
                    <a:pt x="0" y="63866"/>
                  </a:lnTo>
                  <a:cubicBezTo>
                    <a:pt x="0" y="46927"/>
                    <a:pt x="6729" y="30683"/>
                    <a:pt x="18706" y="18706"/>
                  </a:cubicBezTo>
                  <a:cubicBezTo>
                    <a:pt x="30683" y="6729"/>
                    <a:pt x="46927" y="0"/>
                    <a:pt x="63866" y="0"/>
                  </a:cubicBezTo>
                  <a:close/>
                </a:path>
              </a:pathLst>
            </a:custGeom>
            <a:solidFill>
              <a:srgbClr val="3C7440"/>
            </a:solidFill>
          </p:spPr>
        </p:sp>
        <p:sp>
          <p:nvSpPr>
            <p:cNvPr name="TextBox 4" id="4"/>
            <p:cNvSpPr txBox="true"/>
            <p:nvPr/>
          </p:nvSpPr>
          <p:spPr>
            <a:xfrm>
              <a:off x="0" y="-47625"/>
              <a:ext cx="1596342" cy="315057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40922" y="2163341"/>
            <a:ext cx="5436666" cy="11578004"/>
            <a:chOff x="0" y="0"/>
            <a:chExt cx="7248889" cy="15437339"/>
          </a:xfrm>
        </p:grpSpPr>
        <p:sp>
          <p:nvSpPr>
            <p:cNvPr name="Freeform 6" id="6"/>
            <p:cNvSpPr/>
            <p:nvPr/>
          </p:nvSpPr>
          <p:spPr>
            <a:xfrm flipH="false" flipV="false" rot="0">
              <a:off x="0" y="0"/>
              <a:ext cx="7248889" cy="7248889"/>
            </a:xfrm>
            <a:custGeom>
              <a:avLst/>
              <a:gdLst/>
              <a:ahLst/>
              <a:cxnLst/>
              <a:rect r="r" b="b" t="t" l="l"/>
              <a:pathLst>
                <a:path h="7248889" w="7248889">
                  <a:moveTo>
                    <a:pt x="0" y="0"/>
                  </a:moveTo>
                  <a:lnTo>
                    <a:pt x="7248889" y="0"/>
                  </a:lnTo>
                  <a:lnTo>
                    <a:pt x="7248889" y="7248889"/>
                  </a:lnTo>
                  <a:lnTo>
                    <a:pt x="0" y="7248889"/>
                  </a:lnTo>
                  <a:lnTo>
                    <a:pt x="0" y="0"/>
                  </a:lnTo>
                  <a:close/>
                </a:path>
              </a:pathLst>
            </a:custGeom>
            <a:blipFill>
              <a:blip r:embed="rId3"/>
              <a:stretch>
                <a:fillRect l="0" t="0" r="0" b="0"/>
              </a:stretch>
            </a:blipFill>
          </p:spPr>
        </p:sp>
        <p:sp>
          <p:nvSpPr>
            <p:cNvPr name="Freeform 7" id="7"/>
            <p:cNvSpPr/>
            <p:nvPr/>
          </p:nvSpPr>
          <p:spPr>
            <a:xfrm flipH="false" flipV="false" rot="0">
              <a:off x="0" y="8188450"/>
              <a:ext cx="7248889" cy="7248889"/>
            </a:xfrm>
            <a:custGeom>
              <a:avLst/>
              <a:gdLst/>
              <a:ahLst/>
              <a:cxnLst/>
              <a:rect r="r" b="b" t="t" l="l"/>
              <a:pathLst>
                <a:path h="7248889" w="7248889">
                  <a:moveTo>
                    <a:pt x="0" y="0"/>
                  </a:moveTo>
                  <a:lnTo>
                    <a:pt x="7248889" y="0"/>
                  </a:lnTo>
                  <a:lnTo>
                    <a:pt x="7248889" y="7248889"/>
                  </a:lnTo>
                  <a:lnTo>
                    <a:pt x="0" y="7248889"/>
                  </a:lnTo>
                  <a:lnTo>
                    <a:pt x="0" y="0"/>
                  </a:lnTo>
                  <a:close/>
                </a:path>
              </a:pathLst>
            </a:custGeom>
            <a:blipFill>
              <a:blip r:embed="rId4"/>
              <a:stretch>
                <a:fillRect l="0" t="0" r="0" b="0"/>
              </a:stretch>
            </a:blipFill>
          </p:spPr>
        </p:sp>
      </p:grpSp>
      <p:sp>
        <p:nvSpPr>
          <p:cNvPr name="TextBox 8" id="8"/>
          <p:cNvSpPr txBox="true"/>
          <p:nvPr/>
        </p:nvSpPr>
        <p:spPr>
          <a:xfrm rot="0">
            <a:off x="9144000" y="2239407"/>
            <a:ext cx="6399003" cy="5712935"/>
          </a:xfrm>
          <a:prstGeom prst="rect">
            <a:avLst/>
          </a:prstGeom>
        </p:spPr>
        <p:txBody>
          <a:bodyPr anchor="t" rtlCol="false" tIns="0" lIns="0" bIns="0" rIns="0">
            <a:spAutoFit/>
          </a:bodyPr>
          <a:lstStyle/>
          <a:p>
            <a:pPr algn="ctr">
              <a:lnSpc>
                <a:spcPts val="6538"/>
              </a:lnSpc>
              <a:spcBef>
                <a:spcPct val="0"/>
              </a:spcBef>
            </a:pPr>
            <a:r>
              <a:rPr lang="en-US" sz="4670">
                <a:solidFill>
                  <a:srgbClr val="242526"/>
                </a:solidFill>
                <a:latin typeface="Work Sans"/>
                <a:ea typeface="Work Sans"/>
                <a:cs typeface="Work Sans"/>
                <a:sym typeface="Work Sans"/>
              </a:rPr>
              <a:t>Con</a:t>
            </a:r>
            <a:r>
              <a:rPr lang="en-US" sz="4670">
                <a:solidFill>
                  <a:srgbClr val="242526"/>
                </a:solidFill>
                <a:latin typeface="Work Sans"/>
                <a:ea typeface="Work Sans"/>
                <a:cs typeface="Work Sans"/>
                <a:sym typeface="Work Sans"/>
              </a:rPr>
              <a:t>tr</a:t>
            </a:r>
            <a:r>
              <a:rPr lang="en-US" sz="4670">
                <a:solidFill>
                  <a:srgbClr val="242526"/>
                </a:solidFill>
                <a:latin typeface="Work Sans"/>
                <a:ea typeface="Work Sans"/>
                <a:cs typeface="Work Sans"/>
                <a:sym typeface="Work Sans"/>
              </a:rPr>
              <a:t>olling transboundary pests and diseases is essential to double agricultural productivity and ensure safe</a:t>
            </a:r>
          </a:p>
        </p:txBody>
      </p:sp>
    </p:spTree>
  </p:cSld>
  <p:clrMapOvr>
    <a:masterClrMapping/>
  </p:clrMapOvr>
  <p:transition spd="slow">
    <p:push dir="d"/>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grpSp>
        <p:nvGrpSpPr>
          <p:cNvPr name="Group 2" id="2"/>
          <p:cNvGrpSpPr/>
          <p:nvPr/>
        </p:nvGrpSpPr>
        <p:grpSpPr>
          <a:xfrm rot="0">
            <a:off x="1028700" y="-747259"/>
            <a:ext cx="6061111" cy="11781518"/>
            <a:chOff x="0" y="0"/>
            <a:chExt cx="1596342" cy="3102951"/>
          </a:xfrm>
        </p:grpSpPr>
        <p:sp>
          <p:nvSpPr>
            <p:cNvPr name="Freeform 3" id="3"/>
            <p:cNvSpPr/>
            <p:nvPr/>
          </p:nvSpPr>
          <p:spPr>
            <a:xfrm flipH="false" flipV="false" rot="0">
              <a:off x="0" y="0"/>
              <a:ext cx="1596342" cy="3102951"/>
            </a:xfrm>
            <a:custGeom>
              <a:avLst/>
              <a:gdLst/>
              <a:ahLst/>
              <a:cxnLst/>
              <a:rect r="r" b="b" t="t" l="l"/>
              <a:pathLst>
                <a:path h="3102951" w="1596342">
                  <a:moveTo>
                    <a:pt x="63866" y="0"/>
                  </a:moveTo>
                  <a:lnTo>
                    <a:pt x="1532477" y="0"/>
                  </a:lnTo>
                  <a:cubicBezTo>
                    <a:pt x="1549415" y="0"/>
                    <a:pt x="1565659" y="6729"/>
                    <a:pt x="1577636" y="18706"/>
                  </a:cubicBezTo>
                  <a:cubicBezTo>
                    <a:pt x="1589613" y="30683"/>
                    <a:pt x="1596342" y="46927"/>
                    <a:pt x="1596342" y="63866"/>
                  </a:cubicBezTo>
                  <a:lnTo>
                    <a:pt x="1596342" y="3039086"/>
                  </a:lnTo>
                  <a:cubicBezTo>
                    <a:pt x="1596342" y="3056024"/>
                    <a:pt x="1589613" y="3072268"/>
                    <a:pt x="1577636" y="3084245"/>
                  </a:cubicBezTo>
                  <a:cubicBezTo>
                    <a:pt x="1565659" y="3096223"/>
                    <a:pt x="1549415" y="3102951"/>
                    <a:pt x="1532477" y="3102951"/>
                  </a:cubicBezTo>
                  <a:lnTo>
                    <a:pt x="63866" y="3102951"/>
                  </a:lnTo>
                  <a:cubicBezTo>
                    <a:pt x="46927" y="3102951"/>
                    <a:pt x="30683" y="3096223"/>
                    <a:pt x="18706" y="3084245"/>
                  </a:cubicBezTo>
                  <a:cubicBezTo>
                    <a:pt x="6729" y="3072268"/>
                    <a:pt x="0" y="3056024"/>
                    <a:pt x="0" y="3039086"/>
                  </a:cubicBezTo>
                  <a:lnTo>
                    <a:pt x="0" y="63866"/>
                  </a:lnTo>
                  <a:cubicBezTo>
                    <a:pt x="0" y="46927"/>
                    <a:pt x="6729" y="30683"/>
                    <a:pt x="18706" y="18706"/>
                  </a:cubicBezTo>
                  <a:cubicBezTo>
                    <a:pt x="30683" y="6729"/>
                    <a:pt x="46927" y="0"/>
                    <a:pt x="63866" y="0"/>
                  </a:cubicBezTo>
                  <a:close/>
                </a:path>
              </a:pathLst>
            </a:custGeom>
            <a:solidFill>
              <a:srgbClr val="3C7440"/>
            </a:solidFill>
          </p:spPr>
        </p:sp>
        <p:sp>
          <p:nvSpPr>
            <p:cNvPr name="TextBox 4" id="4"/>
            <p:cNvSpPr txBox="true"/>
            <p:nvPr/>
          </p:nvSpPr>
          <p:spPr>
            <a:xfrm>
              <a:off x="0" y="-47625"/>
              <a:ext cx="1596342" cy="315057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40922" y="-3583775"/>
            <a:ext cx="5436666" cy="11578004"/>
            <a:chOff x="0" y="0"/>
            <a:chExt cx="7248889" cy="15437339"/>
          </a:xfrm>
        </p:grpSpPr>
        <p:sp>
          <p:nvSpPr>
            <p:cNvPr name="Freeform 6" id="6"/>
            <p:cNvSpPr/>
            <p:nvPr/>
          </p:nvSpPr>
          <p:spPr>
            <a:xfrm flipH="false" flipV="false" rot="0">
              <a:off x="0" y="0"/>
              <a:ext cx="7248889" cy="7248889"/>
            </a:xfrm>
            <a:custGeom>
              <a:avLst/>
              <a:gdLst/>
              <a:ahLst/>
              <a:cxnLst/>
              <a:rect r="r" b="b" t="t" l="l"/>
              <a:pathLst>
                <a:path h="7248889" w="7248889">
                  <a:moveTo>
                    <a:pt x="0" y="0"/>
                  </a:moveTo>
                  <a:lnTo>
                    <a:pt x="7248889" y="0"/>
                  </a:lnTo>
                  <a:lnTo>
                    <a:pt x="7248889" y="7248889"/>
                  </a:lnTo>
                  <a:lnTo>
                    <a:pt x="0" y="7248889"/>
                  </a:lnTo>
                  <a:lnTo>
                    <a:pt x="0" y="0"/>
                  </a:lnTo>
                  <a:close/>
                </a:path>
              </a:pathLst>
            </a:custGeom>
            <a:blipFill>
              <a:blip r:embed="rId3"/>
              <a:stretch>
                <a:fillRect l="0" t="0" r="0" b="0"/>
              </a:stretch>
            </a:blipFill>
          </p:spPr>
        </p:sp>
        <p:sp>
          <p:nvSpPr>
            <p:cNvPr name="Freeform 7" id="7"/>
            <p:cNvSpPr/>
            <p:nvPr/>
          </p:nvSpPr>
          <p:spPr>
            <a:xfrm flipH="false" flipV="false" rot="0">
              <a:off x="0" y="8188450"/>
              <a:ext cx="7248889" cy="7248889"/>
            </a:xfrm>
            <a:custGeom>
              <a:avLst/>
              <a:gdLst/>
              <a:ahLst/>
              <a:cxnLst/>
              <a:rect r="r" b="b" t="t" l="l"/>
              <a:pathLst>
                <a:path h="7248889" w="7248889">
                  <a:moveTo>
                    <a:pt x="0" y="0"/>
                  </a:moveTo>
                  <a:lnTo>
                    <a:pt x="7248889" y="0"/>
                  </a:lnTo>
                  <a:lnTo>
                    <a:pt x="7248889" y="7248889"/>
                  </a:lnTo>
                  <a:lnTo>
                    <a:pt x="0" y="7248889"/>
                  </a:lnTo>
                  <a:lnTo>
                    <a:pt x="0" y="0"/>
                  </a:lnTo>
                  <a:close/>
                </a:path>
              </a:pathLst>
            </a:custGeom>
            <a:blipFill>
              <a:blip r:embed="rId4"/>
              <a:stretch>
                <a:fillRect l="0" t="0" r="0" b="0"/>
              </a:stretch>
            </a:blipFill>
          </p:spPr>
        </p:sp>
      </p:grpSp>
      <p:sp>
        <p:nvSpPr>
          <p:cNvPr name="TextBox 8" id="8"/>
          <p:cNvSpPr txBox="true"/>
          <p:nvPr/>
        </p:nvSpPr>
        <p:spPr>
          <a:xfrm rot="0">
            <a:off x="9144000" y="3468617"/>
            <a:ext cx="6399003" cy="3254515"/>
          </a:xfrm>
          <a:prstGeom prst="rect">
            <a:avLst/>
          </a:prstGeom>
        </p:spPr>
        <p:txBody>
          <a:bodyPr anchor="t" rtlCol="false" tIns="0" lIns="0" bIns="0" rIns="0">
            <a:spAutoFit/>
          </a:bodyPr>
          <a:lstStyle/>
          <a:p>
            <a:pPr algn="ctr">
              <a:lnSpc>
                <a:spcPts val="6538"/>
              </a:lnSpc>
              <a:spcBef>
                <a:spcPct val="0"/>
              </a:spcBef>
            </a:pPr>
            <a:r>
              <a:rPr lang="en-US" sz="4670">
                <a:solidFill>
                  <a:srgbClr val="242526"/>
                </a:solidFill>
                <a:latin typeface="Work Sans"/>
                <a:ea typeface="Work Sans"/>
                <a:cs typeface="Work Sans"/>
                <a:sym typeface="Work Sans"/>
              </a:rPr>
              <a:t>Inv</a:t>
            </a:r>
            <a:r>
              <a:rPr lang="en-US" sz="4670">
                <a:solidFill>
                  <a:srgbClr val="242526"/>
                </a:solidFill>
                <a:latin typeface="Work Sans"/>
                <a:ea typeface="Work Sans"/>
                <a:cs typeface="Work Sans"/>
                <a:sym typeface="Work Sans"/>
              </a:rPr>
              <a:t>asive pests and pathogens threaten terrestrial ecosystems</a:t>
            </a:r>
          </a:p>
        </p:txBody>
      </p:sp>
    </p:spTree>
  </p:cSld>
  <p:clrMapOvr>
    <a:masterClrMapping/>
  </p:clrMapOvr>
  <p:transition spd="slow">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4921679" cy="8229600"/>
            <a:chOff x="0" y="0"/>
            <a:chExt cx="1296245" cy="2167467"/>
          </a:xfrm>
        </p:grpSpPr>
        <p:sp>
          <p:nvSpPr>
            <p:cNvPr name="Freeform 3" id="3"/>
            <p:cNvSpPr/>
            <p:nvPr/>
          </p:nvSpPr>
          <p:spPr>
            <a:xfrm flipH="false" flipV="false" rot="0">
              <a:off x="0" y="0"/>
              <a:ext cx="1296245" cy="2167467"/>
            </a:xfrm>
            <a:custGeom>
              <a:avLst/>
              <a:gdLst/>
              <a:ahLst/>
              <a:cxnLst/>
              <a:rect r="r" b="b" t="t" l="l"/>
              <a:pathLst>
                <a:path h="2167467" w="1296245">
                  <a:moveTo>
                    <a:pt x="39326" y="0"/>
                  </a:moveTo>
                  <a:lnTo>
                    <a:pt x="1256919" y="0"/>
                  </a:lnTo>
                  <a:cubicBezTo>
                    <a:pt x="1278638" y="0"/>
                    <a:pt x="1296245" y="17607"/>
                    <a:pt x="1296245" y="39326"/>
                  </a:cubicBezTo>
                  <a:lnTo>
                    <a:pt x="1296245" y="2128141"/>
                  </a:lnTo>
                  <a:cubicBezTo>
                    <a:pt x="1296245" y="2149860"/>
                    <a:pt x="1278638" y="2167467"/>
                    <a:pt x="1256919" y="2167467"/>
                  </a:cubicBezTo>
                  <a:lnTo>
                    <a:pt x="39326" y="2167467"/>
                  </a:lnTo>
                  <a:cubicBezTo>
                    <a:pt x="28896" y="2167467"/>
                    <a:pt x="18893" y="2163324"/>
                    <a:pt x="11518" y="2155948"/>
                  </a:cubicBezTo>
                  <a:cubicBezTo>
                    <a:pt x="4143" y="2148574"/>
                    <a:pt x="0" y="2138571"/>
                    <a:pt x="0" y="2128141"/>
                  </a:cubicBezTo>
                  <a:lnTo>
                    <a:pt x="0" y="39326"/>
                  </a:lnTo>
                  <a:cubicBezTo>
                    <a:pt x="0" y="17607"/>
                    <a:pt x="17607" y="0"/>
                    <a:pt x="39326" y="0"/>
                  </a:cubicBezTo>
                  <a:close/>
                </a:path>
              </a:pathLst>
            </a:custGeom>
            <a:solidFill>
              <a:srgbClr val="742622"/>
            </a:solidFill>
          </p:spPr>
        </p:sp>
        <p:sp>
          <p:nvSpPr>
            <p:cNvPr name="TextBox 4" id="4"/>
            <p:cNvSpPr txBox="true"/>
            <p:nvPr/>
          </p:nvSpPr>
          <p:spPr>
            <a:xfrm>
              <a:off x="0" y="-57150"/>
              <a:ext cx="1296245" cy="2224617"/>
            </a:xfrm>
            <a:prstGeom prst="rect">
              <a:avLst/>
            </a:prstGeom>
          </p:spPr>
          <p:txBody>
            <a:bodyPr anchor="ctr" rtlCol="false" tIns="50800" lIns="50800" bIns="50800" rIns="50800"/>
            <a:lstStyle/>
            <a:p>
              <a:pPr algn="ctr">
                <a:lnSpc>
                  <a:spcPts val="3639"/>
                </a:lnSpc>
              </a:pPr>
            </a:p>
          </p:txBody>
        </p:sp>
      </p:grpSp>
      <p:grpSp>
        <p:nvGrpSpPr>
          <p:cNvPr name="Group 5" id="5"/>
          <p:cNvGrpSpPr/>
          <p:nvPr/>
        </p:nvGrpSpPr>
        <p:grpSpPr>
          <a:xfrm rot="0">
            <a:off x="6683160" y="1028700"/>
            <a:ext cx="4921679" cy="8229600"/>
            <a:chOff x="0" y="0"/>
            <a:chExt cx="1296245" cy="2167467"/>
          </a:xfrm>
        </p:grpSpPr>
        <p:sp>
          <p:nvSpPr>
            <p:cNvPr name="Freeform 6" id="6"/>
            <p:cNvSpPr/>
            <p:nvPr/>
          </p:nvSpPr>
          <p:spPr>
            <a:xfrm flipH="false" flipV="false" rot="0">
              <a:off x="0" y="0"/>
              <a:ext cx="1296245" cy="2167467"/>
            </a:xfrm>
            <a:custGeom>
              <a:avLst/>
              <a:gdLst/>
              <a:ahLst/>
              <a:cxnLst/>
              <a:rect r="r" b="b" t="t" l="l"/>
              <a:pathLst>
                <a:path h="2167467" w="1296245">
                  <a:moveTo>
                    <a:pt x="39326" y="0"/>
                  </a:moveTo>
                  <a:lnTo>
                    <a:pt x="1256919" y="0"/>
                  </a:lnTo>
                  <a:cubicBezTo>
                    <a:pt x="1278638" y="0"/>
                    <a:pt x="1296245" y="17607"/>
                    <a:pt x="1296245" y="39326"/>
                  </a:cubicBezTo>
                  <a:lnTo>
                    <a:pt x="1296245" y="2128141"/>
                  </a:lnTo>
                  <a:cubicBezTo>
                    <a:pt x="1296245" y="2149860"/>
                    <a:pt x="1278638" y="2167467"/>
                    <a:pt x="1256919" y="2167467"/>
                  </a:cubicBezTo>
                  <a:lnTo>
                    <a:pt x="39326" y="2167467"/>
                  </a:lnTo>
                  <a:cubicBezTo>
                    <a:pt x="28896" y="2167467"/>
                    <a:pt x="18893" y="2163324"/>
                    <a:pt x="11518" y="2155948"/>
                  </a:cubicBezTo>
                  <a:cubicBezTo>
                    <a:pt x="4143" y="2148574"/>
                    <a:pt x="0" y="2138571"/>
                    <a:pt x="0" y="2128141"/>
                  </a:cubicBezTo>
                  <a:lnTo>
                    <a:pt x="0" y="39326"/>
                  </a:lnTo>
                  <a:cubicBezTo>
                    <a:pt x="0" y="17607"/>
                    <a:pt x="17607" y="0"/>
                    <a:pt x="39326" y="0"/>
                  </a:cubicBezTo>
                  <a:close/>
                </a:path>
              </a:pathLst>
            </a:custGeom>
            <a:solidFill>
              <a:srgbClr val="FFFEF5"/>
            </a:solidFill>
            <a:ln w="38100" cap="rnd">
              <a:solidFill>
                <a:srgbClr val="3C7440"/>
              </a:solidFill>
              <a:prstDash val="solid"/>
              <a:round/>
            </a:ln>
          </p:spPr>
        </p:sp>
        <p:sp>
          <p:nvSpPr>
            <p:cNvPr name="TextBox 7" id="7"/>
            <p:cNvSpPr txBox="true"/>
            <p:nvPr/>
          </p:nvSpPr>
          <p:spPr>
            <a:xfrm>
              <a:off x="0" y="-57150"/>
              <a:ext cx="1296245" cy="2224617"/>
            </a:xfrm>
            <a:prstGeom prst="rect">
              <a:avLst/>
            </a:prstGeom>
          </p:spPr>
          <p:txBody>
            <a:bodyPr anchor="ctr" rtlCol="false" tIns="50800" lIns="50800" bIns="50800" rIns="50800"/>
            <a:lstStyle/>
            <a:p>
              <a:pPr algn="ctr">
                <a:lnSpc>
                  <a:spcPts val="3639"/>
                </a:lnSpc>
              </a:pPr>
            </a:p>
          </p:txBody>
        </p:sp>
      </p:grpSp>
      <p:grpSp>
        <p:nvGrpSpPr>
          <p:cNvPr name="Group 8" id="8"/>
          <p:cNvGrpSpPr/>
          <p:nvPr/>
        </p:nvGrpSpPr>
        <p:grpSpPr>
          <a:xfrm rot="0">
            <a:off x="12337621" y="1028700"/>
            <a:ext cx="4921679" cy="8229600"/>
            <a:chOff x="0" y="0"/>
            <a:chExt cx="1296245" cy="2167467"/>
          </a:xfrm>
        </p:grpSpPr>
        <p:sp>
          <p:nvSpPr>
            <p:cNvPr name="Freeform 9" id="9"/>
            <p:cNvSpPr/>
            <p:nvPr/>
          </p:nvSpPr>
          <p:spPr>
            <a:xfrm flipH="false" flipV="false" rot="0">
              <a:off x="0" y="0"/>
              <a:ext cx="1296245" cy="2167467"/>
            </a:xfrm>
            <a:custGeom>
              <a:avLst/>
              <a:gdLst/>
              <a:ahLst/>
              <a:cxnLst/>
              <a:rect r="r" b="b" t="t" l="l"/>
              <a:pathLst>
                <a:path h="2167467" w="1296245">
                  <a:moveTo>
                    <a:pt x="39326" y="0"/>
                  </a:moveTo>
                  <a:lnTo>
                    <a:pt x="1256919" y="0"/>
                  </a:lnTo>
                  <a:cubicBezTo>
                    <a:pt x="1278638" y="0"/>
                    <a:pt x="1296245" y="17607"/>
                    <a:pt x="1296245" y="39326"/>
                  </a:cubicBezTo>
                  <a:lnTo>
                    <a:pt x="1296245" y="2128141"/>
                  </a:lnTo>
                  <a:cubicBezTo>
                    <a:pt x="1296245" y="2149860"/>
                    <a:pt x="1278638" y="2167467"/>
                    <a:pt x="1256919" y="2167467"/>
                  </a:cubicBezTo>
                  <a:lnTo>
                    <a:pt x="39326" y="2167467"/>
                  </a:lnTo>
                  <a:cubicBezTo>
                    <a:pt x="28896" y="2167467"/>
                    <a:pt x="18893" y="2163324"/>
                    <a:pt x="11518" y="2155948"/>
                  </a:cubicBezTo>
                  <a:cubicBezTo>
                    <a:pt x="4143" y="2148574"/>
                    <a:pt x="0" y="2138571"/>
                    <a:pt x="0" y="2128141"/>
                  </a:cubicBezTo>
                  <a:lnTo>
                    <a:pt x="0" y="39326"/>
                  </a:lnTo>
                  <a:cubicBezTo>
                    <a:pt x="0" y="17607"/>
                    <a:pt x="17607" y="0"/>
                    <a:pt x="39326" y="0"/>
                  </a:cubicBezTo>
                  <a:close/>
                </a:path>
              </a:pathLst>
            </a:custGeom>
            <a:solidFill>
              <a:srgbClr val="242526"/>
            </a:solidFill>
          </p:spPr>
        </p:sp>
        <p:sp>
          <p:nvSpPr>
            <p:cNvPr name="TextBox 10" id="10"/>
            <p:cNvSpPr txBox="true"/>
            <p:nvPr/>
          </p:nvSpPr>
          <p:spPr>
            <a:xfrm>
              <a:off x="0" y="-57150"/>
              <a:ext cx="1296245" cy="2224617"/>
            </a:xfrm>
            <a:prstGeom prst="rect">
              <a:avLst/>
            </a:prstGeom>
          </p:spPr>
          <p:txBody>
            <a:bodyPr anchor="ctr" rtlCol="false" tIns="50800" lIns="50800" bIns="50800" rIns="50800"/>
            <a:lstStyle/>
            <a:p>
              <a:pPr algn="ctr">
                <a:lnSpc>
                  <a:spcPts val="3639"/>
                </a:lnSpc>
              </a:pPr>
            </a:p>
          </p:txBody>
        </p:sp>
      </p:grpSp>
      <p:grpSp>
        <p:nvGrpSpPr>
          <p:cNvPr name="Group 11" id="11"/>
          <p:cNvGrpSpPr/>
          <p:nvPr/>
        </p:nvGrpSpPr>
        <p:grpSpPr>
          <a:xfrm rot="0">
            <a:off x="1967072" y="1922420"/>
            <a:ext cx="3044935" cy="6442160"/>
            <a:chOff x="0" y="0"/>
            <a:chExt cx="4059913" cy="8589547"/>
          </a:xfrm>
        </p:grpSpPr>
        <p:sp>
          <p:nvSpPr>
            <p:cNvPr name="Freeform 12" id="12"/>
            <p:cNvSpPr/>
            <p:nvPr/>
          </p:nvSpPr>
          <p:spPr>
            <a:xfrm flipH="false" flipV="false" rot="0">
              <a:off x="30917" y="0"/>
              <a:ext cx="3998080" cy="4000500"/>
            </a:xfrm>
            <a:custGeom>
              <a:avLst/>
              <a:gdLst/>
              <a:ahLst/>
              <a:cxnLst/>
              <a:rect r="r" b="b" t="t" l="l"/>
              <a:pathLst>
                <a:path h="4000500" w="3998080">
                  <a:moveTo>
                    <a:pt x="0" y="0"/>
                  </a:moveTo>
                  <a:lnTo>
                    <a:pt x="3998080" y="0"/>
                  </a:lnTo>
                  <a:lnTo>
                    <a:pt x="3998080" y="4000500"/>
                  </a:lnTo>
                  <a:lnTo>
                    <a:pt x="0" y="4000500"/>
                  </a:lnTo>
                  <a:lnTo>
                    <a:pt x="0" y="0"/>
                  </a:lnTo>
                  <a:close/>
                </a:path>
              </a:pathLst>
            </a:custGeom>
            <a:blipFill>
              <a:blip r:embed="rId3"/>
              <a:stretch>
                <a:fillRect l="-26109" t="0" r="-26169" b="0"/>
              </a:stretch>
            </a:blipFill>
          </p:spPr>
        </p:sp>
        <p:sp>
          <p:nvSpPr>
            <p:cNvPr name="Freeform 13" id="13"/>
            <p:cNvSpPr/>
            <p:nvPr/>
          </p:nvSpPr>
          <p:spPr>
            <a:xfrm flipH="false" flipV="false" rot="0">
              <a:off x="0" y="4589047"/>
              <a:ext cx="4059913" cy="4000500"/>
            </a:xfrm>
            <a:custGeom>
              <a:avLst/>
              <a:gdLst/>
              <a:ahLst/>
              <a:cxnLst/>
              <a:rect r="r" b="b" t="t" l="l"/>
              <a:pathLst>
                <a:path h="4000500" w="4059913">
                  <a:moveTo>
                    <a:pt x="0" y="0"/>
                  </a:moveTo>
                  <a:lnTo>
                    <a:pt x="4059913" y="0"/>
                  </a:lnTo>
                  <a:lnTo>
                    <a:pt x="4059913" y="4000500"/>
                  </a:lnTo>
                  <a:lnTo>
                    <a:pt x="0" y="4000500"/>
                  </a:lnTo>
                  <a:lnTo>
                    <a:pt x="0" y="0"/>
                  </a:lnTo>
                  <a:close/>
                </a:path>
              </a:pathLst>
            </a:custGeom>
            <a:blipFill>
              <a:blip r:embed="rId4"/>
              <a:stretch>
                <a:fillRect l="0" t="0" r="0" b="0"/>
              </a:stretch>
            </a:blipFill>
          </p:spPr>
        </p:sp>
      </p:grpSp>
      <p:sp>
        <p:nvSpPr>
          <p:cNvPr name="Freeform 14" id="14"/>
          <p:cNvSpPr/>
          <p:nvPr/>
        </p:nvSpPr>
        <p:spPr>
          <a:xfrm flipH="false" flipV="false" rot="0">
            <a:off x="7643813" y="1922420"/>
            <a:ext cx="3000375" cy="3000375"/>
          </a:xfrm>
          <a:custGeom>
            <a:avLst/>
            <a:gdLst/>
            <a:ahLst/>
            <a:cxnLst/>
            <a:rect r="r" b="b" t="t" l="l"/>
            <a:pathLst>
              <a:path h="3000375" w="3000375">
                <a:moveTo>
                  <a:pt x="0" y="0"/>
                </a:moveTo>
                <a:lnTo>
                  <a:pt x="3000375" y="0"/>
                </a:lnTo>
                <a:lnTo>
                  <a:pt x="3000375" y="3000375"/>
                </a:lnTo>
                <a:lnTo>
                  <a:pt x="0" y="3000375"/>
                </a:lnTo>
                <a:lnTo>
                  <a:pt x="0" y="0"/>
                </a:lnTo>
                <a:close/>
              </a:path>
            </a:pathLst>
          </a:custGeom>
          <a:blipFill>
            <a:blip r:embed="rId5"/>
            <a:stretch>
              <a:fillRect l="0" t="0" r="0" b="0"/>
            </a:stretch>
          </a:blipFill>
        </p:spPr>
      </p:sp>
      <p:sp>
        <p:nvSpPr>
          <p:cNvPr name="Freeform 15" id="15"/>
          <p:cNvSpPr/>
          <p:nvPr/>
        </p:nvSpPr>
        <p:spPr>
          <a:xfrm flipH="false" flipV="false" rot="0">
            <a:off x="7643812" y="5364205"/>
            <a:ext cx="3000375" cy="3000375"/>
          </a:xfrm>
          <a:custGeom>
            <a:avLst/>
            <a:gdLst/>
            <a:ahLst/>
            <a:cxnLst/>
            <a:rect r="r" b="b" t="t" l="l"/>
            <a:pathLst>
              <a:path h="3000375" w="3000375">
                <a:moveTo>
                  <a:pt x="0" y="0"/>
                </a:moveTo>
                <a:lnTo>
                  <a:pt x="3000375" y="0"/>
                </a:lnTo>
                <a:lnTo>
                  <a:pt x="3000375" y="3000375"/>
                </a:lnTo>
                <a:lnTo>
                  <a:pt x="0" y="3000375"/>
                </a:lnTo>
                <a:lnTo>
                  <a:pt x="0" y="0"/>
                </a:lnTo>
                <a:close/>
              </a:path>
            </a:pathLst>
          </a:custGeom>
          <a:blipFill>
            <a:blip r:embed="rId6"/>
            <a:stretch>
              <a:fillRect l="0" t="0" r="0" b="0"/>
            </a:stretch>
          </a:blipFill>
        </p:spPr>
      </p:sp>
      <p:sp>
        <p:nvSpPr>
          <p:cNvPr name="Freeform 16" id="16"/>
          <p:cNvSpPr/>
          <p:nvPr/>
        </p:nvSpPr>
        <p:spPr>
          <a:xfrm flipH="false" flipV="false" rot="0">
            <a:off x="13300290" y="1922420"/>
            <a:ext cx="3000375" cy="3000375"/>
          </a:xfrm>
          <a:custGeom>
            <a:avLst/>
            <a:gdLst/>
            <a:ahLst/>
            <a:cxnLst/>
            <a:rect r="r" b="b" t="t" l="l"/>
            <a:pathLst>
              <a:path h="3000375" w="3000375">
                <a:moveTo>
                  <a:pt x="0" y="0"/>
                </a:moveTo>
                <a:lnTo>
                  <a:pt x="3000375" y="0"/>
                </a:lnTo>
                <a:lnTo>
                  <a:pt x="3000375" y="3000375"/>
                </a:lnTo>
                <a:lnTo>
                  <a:pt x="0" y="3000375"/>
                </a:lnTo>
                <a:lnTo>
                  <a:pt x="0" y="0"/>
                </a:lnTo>
                <a:close/>
              </a:path>
            </a:pathLst>
          </a:custGeom>
          <a:blipFill>
            <a:blip r:embed="rId7"/>
            <a:stretch>
              <a:fillRect l="0" t="0" r="0" b="0"/>
            </a:stretch>
          </a:blipFill>
        </p:spPr>
      </p:sp>
      <p:sp>
        <p:nvSpPr>
          <p:cNvPr name="Freeform 17" id="17"/>
          <p:cNvSpPr/>
          <p:nvPr/>
        </p:nvSpPr>
        <p:spPr>
          <a:xfrm flipH="false" flipV="false" rot="0">
            <a:off x="13300290" y="5364205"/>
            <a:ext cx="3000375" cy="3000375"/>
          </a:xfrm>
          <a:custGeom>
            <a:avLst/>
            <a:gdLst/>
            <a:ahLst/>
            <a:cxnLst/>
            <a:rect r="r" b="b" t="t" l="l"/>
            <a:pathLst>
              <a:path h="3000375" w="3000375">
                <a:moveTo>
                  <a:pt x="0" y="0"/>
                </a:moveTo>
                <a:lnTo>
                  <a:pt x="3000375" y="0"/>
                </a:lnTo>
                <a:lnTo>
                  <a:pt x="3000375" y="3000375"/>
                </a:lnTo>
                <a:lnTo>
                  <a:pt x="0" y="3000375"/>
                </a:lnTo>
                <a:lnTo>
                  <a:pt x="0" y="0"/>
                </a:lnTo>
                <a:close/>
              </a:path>
            </a:pathLst>
          </a:custGeom>
          <a:blipFill>
            <a:blip r:embed="rId8"/>
            <a:stretch>
              <a:fillRect l="0" t="0" r="0" b="0"/>
            </a:stretch>
          </a:blipFill>
        </p:spPr>
      </p:sp>
    </p:spTree>
  </p:cSld>
  <p:clrMapOvr>
    <a:masterClrMapping/>
  </p:clrMapOvr>
  <p:transition spd="slow">
    <p:push dir="d"/>
  </p:transition>
</p:sld>
</file>

<file path=ppt/slides/slide10.xml><?xml version="1.0" encoding="utf-8"?>
<p:sld xmlns:p="http://schemas.openxmlformats.org/presentationml/2006/main" xmlns:a="http://schemas.openxmlformats.org/drawingml/2006/main">
  <p:cSld>
    <p:bg>
      <p:bgPr>
        <a:solidFill>
          <a:srgbClr val="FFFEF5"/>
        </a:solidFill>
      </p:bgPr>
    </p:bg>
    <p:spTree>
      <p:nvGrpSpPr>
        <p:cNvPr id="1" name=""/>
        <p:cNvGrpSpPr/>
        <p:nvPr/>
      </p:nvGrpSpPr>
      <p:grpSpPr>
        <a:xfrm>
          <a:off x="0" y="0"/>
          <a:ext cx="0" cy="0"/>
          <a:chOff x="0" y="0"/>
          <a:chExt cx="0" cy="0"/>
        </a:xfrm>
      </p:grpSpPr>
      <p:grpSp>
        <p:nvGrpSpPr>
          <p:cNvPr name="Group 2" id="2"/>
          <p:cNvGrpSpPr/>
          <p:nvPr/>
        </p:nvGrpSpPr>
        <p:grpSpPr>
          <a:xfrm rot="0">
            <a:off x="866982" y="0"/>
            <a:ext cx="4762500" cy="10287000"/>
            <a:chOff x="0" y="0"/>
            <a:chExt cx="1281816" cy="2768723"/>
          </a:xfrm>
        </p:grpSpPr>
        <p:sp>
          <p:nvSpPr>
            <p:cNvPr name="Freeform 3" id="3"/>
            <p:cNvSpPr/>
            <p:nvPr/>
          </p:nvSpPr>
          <p:spPr>
            <a:xfrm flipH="false" flipV="false" rot="0">
              <a:off x="0" y="0"/>
              <a:ext cx="1281816" cy="2768723"/>
            </a:xfrm>
            <a:custGeom>
              <a:avLst/>
              <a:gdLst/>
              <a:ahLst/>
              <a:cxnLst/>
              <a:rect r="r" b="b" t="t" l="l"/>
              <a:pathLst>
                <a:path h="2768723" w="1281816">
                  <a:moveTo>
                    <a:pt x="0" y="0"/>
                  </a:moveTo>
                  <a:lnTo>
                    <a:pt x="1281816" y="0"/>
                  </a:lnTo>
                  <a:lnTo>
                    <a:pt x="1281816" y="2768723"/>
                  </a:lnTo>
                  <a:lnTo>
                    <a:pt x="0" y="2768723"/>
                  </a:lnTo>
                  <a:close/>
                </a:path>
              </a:pathLst>
            </a:custGeom>
            <a:solidFill>
              <a:srgbClr val="649C3E"/>
            </a:solidFill>
            <a:ln cap="sq">
              <a:noFill/>
              <a:prstDash val="solid"/>
              <a:miter/>
            </a:ln>
          </p:spPr>
        </p:sp>
        <p:sp>
          <p:nvSpPr>
            <p:cNvPr name="TextBox 4" id="4"/>
            <p:cNvSpPr txBox="true"/>
            <p:nvPr/>
          </p:nvSpPr>
          <p:spPr>
            <a:xfrm>
              <a:off x="0" y="-47625"/>
              <a:ext cx="1281816" cy="281634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6763808" y="0"/>
            <a:ext cx="4762500" cy="10287000"/>
            <a:chOff x="0" y="0"/>
            <a:chExt cx="1281816" cy="2768723"/>
          </a:xfrm>
        </p:grpSpPr>
        <p:sp>
          <p:nvSpPr>
            <p:cNvPr name="Freeform 6" id="6"/>
            <p:cNvSpPr/>
            <p:nvPr/>
          </p:nvSpPr>
          <p:spPr>
            <a:xfrm flipH="false" flipV="false" rot="0">
              <a:off x="0" y="0"/>
              <a:ext cx="1281816" cy="2768723"/>
            </a:xfrm>
            <a:custGeom>
              <a:avLst/>
              <a:gdLst/>
              <a:ahLst/>
              <a:cxnLst/>
              <a:rect r="r" b="b" t="t" l="l"/>
              <a:pathLst>
                <a:path h="2768723" w="1281816">
                  <a:moveTo>
                    <a:pt x="0" y="0"/>
                  </a:moveTo>
                  <a:lnTo>
                    <a:pt x="1281816" y="0"/>
                  </a:lnTo>
                  <a:lnTo>
                    <a:pt x="1281816" y="2768723"/>
                  </a:lnTo>
                  <a:lnTo>
                    <a:pt x="0" y="2768723"/>
                  </a:lnTo>
                  <a:close/>
                </a:path>
              </a:pathLst>
            </a:custGeom>
            <a:solidFill>
              <a:srgbClr val="742622"/>
            </a:solidFill>
            <a:ln cap="sq">
              <a:noFill/>
              <a:prstDash val="solid"/>
              <a:miter/>
            </a:ln>
          </p:spPr>
        </p:sp>
        <p:sp>
          <p:nvSpPr>
            <p:cNvPr name="TextBox 7" id="7"/>
            <p:cNvSpPr txBox="true"/>
            <p:nvPr/>
          </p:nvSpPr>
          <p:spPr>
            <a:xfrm>
              <a:off x="0" y="-47625"/>
              <a:ext cx="1281816" cy="2816348"/>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a:off x="5086835" y="2989504"/>
            <a:ext cx="2219619" cy="11441"/>
          </a:xfrm>
          <a:prstGeom prst="line">
            <a:avLst/>
          </a:prstGeom>
          <a:ln cap="flat" w="57150">
            <a:solidFill>
              <a:srgbClr val="000000"/>
            </a:solidFill>
            <a:prstDash val="solid"/>
            <a:headEnd type="none" len="sm" w="sm"/>
            <a:tailEnd type="triangle" len="med" w="lg"/>
          </a:ln>
        </p:spPr>
      </p:sp>
      <p:grpSp>
        <p:nvGrpSpPr>
          <p:cNvPr name="Group 9" id="9"/>
          <p:cNvGrpSpPr/>
          <p:nvPr/>
        </p:nvGrpSpPr>
        <p:grpSpPr>
          <a:xfrm rot="0">
            <a:off x="12658518" y="0"/>
            <a:ext cx="4762500" cy="10287000"/>
            <a:chOff x="0" y="0"/>
            <a:chExt cx="1281802" cy="2768727"/>
          </a:xfrm>
        </p:grpSpPr>
        <p:sp>
          <p:nvSpPr>
            <p:cNvPr name="Freeform 10" id="10"/>
            <p:cNvSpPr/>
            <p:nvPr/>
          </p:nvSpPr>
          <p:spPr>
            <a:xfrm flipH="false" flipV="false" rot="0">
              <a:off x="0" y="0"/>
              <a:ext cx="1281802" cy="2768727"/>
            </a:xfrm>
            <a:custGeom>
              <a:avLst/>
              <a:gdLst/>
              <a:ahLst/>
              <a:cxnLst/>
              <a:rect r="r" b="b" t="t" l="l"/>
              <a:pathLst>
                <a:path h="2768727" w="1281802">
                  <a:moveTo>
                    <a:pt x="1281802" y="0"/>
                  </a:moveTo>
                  <a:lnTo>
                    <a:pt x="1281802" y="2768727"/>
                  </a:lnTo>
                  <a:lnTo>
                    <a:pt x="0" y="2768727"/>
                  </a:lnTo>
                  <a:lnTo>
                    <a:pt x="0" y="0"/>
                  </a:lnTo>
                  <a:close/>
                </a:path>
              </a:pathLst>
            </a:custGeom>
            <a:solidFill>
              <a:srgbClr val="649C3E"/>
            </a:solidFill>
            <a:ln cap="sq">
              <a:noFill/>
              <a:prstDash val="solid"/>
              <a:miter/>
            </a:ln>
          </p:spPr>
        </p:sp>
        <p:sp>
          <p:nvSpPr>
            <p:cNvPr name="TextBox 11" id="11"/>
            <p:cNvSpPr txBox="true"/>
            <p:nvPr/>
          </p:nvSpPr>
          <p:spPr>
            <a:xfrm>
              <a:off x="0" y="-47625"/>
              <a:ext cx="1281802" cy="2816352"/>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flipV="true">
            <a:off x="10981546" y="2989504"/>
            <a:ext cx="2221734" cy="11441"/>
          </a:xfrm>
          <a:prstGeom prst="line">
            <a:avLst/>
          </a:prstGeom>
          <a:ln cap="flat" w="57150">
            <a:solidFill>
              <a:srgbClr val="000000"/>
            </a:solidFill>
            <a:prstDash val="solid"/>
            <a:headEnd type="none" len="sm" w="sm"/>
            <a:tailEnd type="triangle" len="med" w="lg"/>
          </a:ln>
        </p:spPr>
      </p:sp>
      <p:grpSp>
        <p:nvGrpSpPr>
          <p:cNvPr name="Group 13" id="13"/>
          <p:cNvGrpSpPr/>
          <p:nvPr/>
        </p:nvGrpSpPr>
        <p:grpSpPr>
          <a:xfrm rot="0">
            <a:off x="1411743" y="1850456"/>
            <a:ext cx="3675092" cy="2278096"/>
            <a:chOff x="0" y="0"/>
            <a:chExt cx="967925" cy="599992"/>
          </a:xfrm>
        </p:grpSpPr>
        <p:sp>
          <p:nvSpPr>
            <p:cNvPr name="Freeform 14" id="14"/>
            <p:cNvSpPr/>
            <p:nvPr/>
          </p:nvSpPr>
          <p:spPr>
            <a:xfrm flipH="false" flipV="false" rot="0">
              <a:off x="0" y="0"/>
              <a:ext cx="967926" cy="599992"/>
            </a:xfrm>
            <a:custGeom>
              <a:avLst/>
              <a:gdLst/>
              <a:ahLst/>
              <a:cxnLst/>
              <a:rect r="r" b="b" t="t" l="l"/>
              <a:pathLst>
                <a:path h="599992" w="967926">
                  <a:moveTo>
                    <a:pt x="52665" y="0"/>
                  </a:moveTo>
                  <a:lnTo>
                    <a:pt x="915261" y="0"/>
                  </a:lnTo>
                  <a:cubicBezTo>
                    <a:pt x="944347" y="0"/>
                    <a:pt x="967926" y="23579"/>
                    <a:pt x="967926" y="52665"/>
                  </a:cubicBezTo>
                  <a:lnTo>
                    <a:pt x="967926" y="547328"/>
                  </a:lnTo>
                  <a:cubicBezTo>
                    <a:pt x="967926" y="576414"/>
                    <a:pt x="944347" y="599992"/>
                    <a:pt x="915261" y="599992"/>
                  </a:cubicBezTo>
                  <a:lnTo>
                    <a:pt x="52665" y="599992"/>
                  </a:lnTo>
                  <a:cubicBezTo>
                    <a:pt x="23579" y="599992"/>
                    <a:pt x="0" y="576414"/>
                    <a:pt x="0" y="547328"/>
                  </a:cubicBezTo>
                  <a:lnTo>
                    <a:pt x="0" y="52665"/>
                  </a:lnTo>
                  <a:cubicBezTo>
                    <a:pt x="0" y="23579"/>
                    <a:pt x="23579" y="0"/>
                    <a:pt x="52665" y="0"/>
                  </a:cubicBezTo>
                  <a:close/>
                </a:path>
              </a:pathLst>
            </a:custGeom>
            <a:solidFill>
              <a:srgbClr val="B9D2B7"/>
            </a:solidFill>
            <a:ln w="38100" cap="rnd">
              <a:solidFill>
                <a:srgbClr val="000000"/>
              </a:solidFill>
              <a:prstDash val="sysDot"/>
              <a:round/>
            </a:ln>
          </p:spPr>
        </p:sp>
        <p:sp>
          <p:nvSpPr>
            <p:cNvPr name="TextBox 15" id="15"/>
            <p:cNvSpPr txBox="true"/>
            <p:nvPr/>
          </p:nvSpPr>
          <p:spPr>
            <a:xfrm>
              <a:off x="0" y="-57150"/>
              <a:ext cx="967925" cy="657142"/>
            </a:xfrm>
            <a:prstGeom prst="rect">
              <a:avLst/>
            </a:prstGeom>
          </p:spPr>
          <p:txBody>
            <a:bodyPr anchor="ctr" rtlCol="false" tIns="50800" lIns="50800" bIns="50800" rIns="50800"/>
            <a:lstStyle/>
            <a:p>
              <a:pPr algn="ctr">
                <a:lnSpc>
                  <a:spcPts val="3359"/>
                </a:lnSpc>
              </a:pPr>
              <a:r>
                <a:rPr lang="en-US" sz="2399">
                  <a:solidFill>
                    <a:srgbClr val="242526"/>
                  </a:solidFill>
                  <a:latin typeface="Work Sans"/>
                  <a:ea typeface="Work Sans"/>
                  <a:cs typeface="Work Sans"/>
                  <a:sym typeface="Work Sans"/>
                </a:rPr>
                <a:t>Stores and Manages AI Models</a:t>
              </a:r>
            </a:p>
          </p:txBody>
        </p:sp>
      </p:grpSp>
      <p:grpSp>
        <p:nvGrpSpPr>
          <p:cNvPr name="Group 16" id="16"/>
          <p:cNvGrpSpPr/>
          <p:nvPr/>
        </p:nvGrpSpPr>
        <p:grpSpPr>
          <a:xfrm rot="0">
            <a:off x="7306454" y="1861897"/>
            <a:ext cx="3675092" cy="2278096"/>
            <a:chOff x="0" y="0"/>
            <a:chExt cx="967925" cy="599992"/>
          </a:xfrm>
        </p:grpSpPr>
        <p:sp>
          <p:nvSpPr>
            <p:cNvPr name="Freeform 17" id="17"/>
            <p:cNvSpPr/>
            <p:nvPr/>
          </p:nvSpPr>
          <p:spPr>
            <a:xfrm flipH="false" flipV="false" rot="0">
              <a:off x="0" y="0"/>
              <a:ext cx="967926" cy="599992"/>
            </a:xfrm>
            <a:custGeom>
              <a:avLst/>
              <a:gdLst/>
              <a:ahLst/>
              <a:cxnLst/>
              <a:rect r="r" b="b" t="t" l="l"/>
              <a:pathLst>
                <a:path h="599992" w="967926">
                  <a:moveTo>
                    <a:pt x="52665" y="0"/>
                  </a:moveTo>
                  <a:lnTo>
                    <a:pt x="915261" y="0"/>
                  </a:lnTo>
                  <a:cubicBezTo>
                    <a:pt x="944347" y="0"/>
                    <a:pt x="967926" y="23579"/>
                    <a:pt x="967926" y="52665"/>
                  </a:cubicBezTo>
                  <a:lnTo>
                    <a:pt x="967926" y="547328"/>
                  </a:lnTo>
                  <a:cubicBezTo>
                    <a:pt x="967926" y="576414"/>
                    <a:pt x="944347" y="599992"/>
                    <a:pt x="915261" y="599992"/>
                  </a:cubicBezTo>
                  <a:lnTo>
                    <a:pt x="52665" y="599992"/>
                  </a:lnTo>
                  <a:cubicBezTo>
                    <a:pt x="23579" y="599992"/>
                    <a:pt x="0" y="576414"/>
                    <a:pt x="0" y="547328"/>
                  </a:cubicBezTo>
                  <a:lnTo>
                    <a:pt x="0" y="52665"/>
                  </a:lnTo>
                  <a:cubicBezTo>
                    <a:pt x="0" y="23579"/>
                    <a:pt x="23579" y="0"/>
                    <a:pt x="52665" y="0"/>
                  </a:cubicBezTo>
                  <a:close/>
                </a:path>
              </a:pathLst>
            </a:custGeom>
            <a:solidFill>
              <a:srgbClr val="F5DBDA"/>
            </a:solidFill>
            <a:ln w="38100" cap="rnd">
              <a:solidFill>
                <a:srgbClr val="000000"/>
              </a:solidFill>
              <a:prstDash val="sysDot"/>
              <a:round/>
            </a:ln>
          </p:spPr>
        </p:sp>
        <p:sp>
          <p:nvSpPr>
            <p:cNvPr name="TextBox 18" id="18"/>
            <p:cNvSpPr txBox="true"/>
            <p:nvPr/>
          </p:nvSpPr>
          <p:spPr>
            <a:xfrm>
              <a:off x="0" y="-47625"/>
              <a:ext cx="967925" cy="647617"/>
            </a:xfrm>
            <a:prstGeom prst="rect">
              <a:avLst/>
            </a:prstGeom>
          </p:spPr>
          <p:txBody>
            <a:bodyPr anchor="ctr" rtlCol="false" tIns="50800" lIns="50800" bIns="50800" rIns="50800"/>
            <a:lstStyle/>
            <a:p>
              <a:pPr algn="ctr">
                <a:lnSpc>
                  <a:spcPts val="3079"/>
                </a:lnSpc>
              </a:pPr>
              <a:r>
                <a:rPr lang="en-US" sz="2199">
                  <a:solidFill>
                    <a:srgbClr val="242526"/>
                  </a:solidFill>
                  <a:latin typeface="Work Sans"/>
                  <a:ea typeface="Work Sans"/>
                  <a:cs typeface="Work Sans"/>
                  <a:sym typeface="Work Sans"/>
                </a:rPr>
                <a:t>Stores AI Models from SPIDHIVE and Syncs with SPIDTECH+</a:t>
              </a:r>
            </a:p>
          </p:txBody>
        </p:sp>
      </p:grpSp>
      <p:grpSp>
        <p:nvGrpSpPr>
          <p:cNvPr name="Group 19" id="19"/>
          <p:cNvGrpSpPr/>
          <p:nvPr/>
        </p:nvGrpSpPr>
        <p:grpSpPr>
          <a:xfrm rot="0">
            <a:off x="13203280" y="1850456"/>
            <a:ext cx="3675092" cy="2278096"/>
            <a:chOff x="0" y="0"/>
            <a:chExt cx="967925" cy="599992"/>
          </a:xfrm>
        </p:grpSpPr>
        <p:sp>
          <p:nvSpPr>
            <p:cNvPr name="Freeform 20" id="20"/>
            <p:cNvSpPr/>
            <p:nvPr/>
          </p:nvSpPr>
          <p:spPr>
            <a:xfrm flipH="false" flipV="false" rot="0">
              <a:off x="0" y="0"/>
              <a:ext cx="967926" cy="599992"/>
            </a:xfrm>
            <a:custGeom>
              <a:avLst/>
              <a:gdLst/>
              <a:ahLst/>
              <a:cxnLst/>
              <a:rect r="r" b="b" t="t" l="l"/>
              <a:pathLst>
                <a:path h="599992" w="967926">
                  <a:moveTo>
                    <a:pt x="52665" y="0"/>
                  </a:moveTo>
                  <a:lnTo>
                    <a:pt x="915261" y="0"/>
                  </a:lnTo>
                  <a:cubicBezTo>
                    <a:pt x="944347" y="0"/>
                    <a:pt x="967926" y="23579"/>
                    <a:pt x="967926" y="52665"/>
                  </a:cubicBezTo>
                  <a:lnTo>
                    <a:pt x="967926" y="547328"/>
                  </a:lnTo>
                  <a:cubicBezTo>
                    <a:pt x="967926" y="576414"/>
                    <a:pt x="944347" y="599992"/>
                    <a:pt x="915261" y="599992"/>
                  </a:cubicBezTo>
                  <a:lnTo>
                    <a:pt x="52665" y="599992"/>
                  </a:lnTo>
                  <a:cubicBezTo>
                    <a:pt x="23579" y="599992"/>
                    <a:pt x="0" y="576414"/>
                    <a:pt x="0" y="547328"/>
                  </a:cubicBezTo>
                  <a:lnTo>
                    <a:pt x="0" y="52665"/>
                  </a:lnTo>
                  <a:cubicBezTo>
                    <a:pt x="0" y="23579"/>
                    <a:pt x="23579" y="0"/>
                    <a:pt x="52665" y="0"/>
                  </a:cubicBezTo>
                  <a:close/>
                </a:path>
              </a:pathLst>
            </a:custGeom>
            <a:solidFill>
              <a:srgbClr val="B9D2B7"/>
            </a:solidFill>
            <a:ln w="38100" cap="rnd">
              <a:solidFill>
                <a:srgbClr val="000000"/>
              </a:solidFill>
              <a:prstDash val="sysDot"/>
              <a:round/>
            </a:ln>
          </p:spPr>
        </p:sp>
        <p:sp>
          <p:nvSpPr>
            <p:cNvPr name="TextBox 21" id="21"/>
            <p:cNvSpPr txBox="true"/>
            <p:nvPr/>
          </p:nvSpPr>
          <p:spPr>
            <a:xfrm>
              <a:off x="0" y="-57150"/>
              <a:ext cx="967925" cy="657142"/>
            </a:xfrm>
            <a:prstGeom prst="rect">
              <a:avLst/>
            </a:prstGeom>
          </p:spPr>
          <p:txBody>
            <a:bodyPr anchor="ctr" rtlCol="false" tIns="50800" lIns="50800" bIns="50800" rIns="50800"/>
            <a:lstStyle/>
            <a:p>
              <a:pPr algn="ctr">
                <a:lnSpc>
                  <a:spcPts val="3359"/>
                </a:lnSpc>
              </a:pPr>
              <a:r>
                <a:rPr lang="en-US" sz="2399">
                  <a:solidFill>
                    <a:srgbClr val="242526"/>
                  </a:solidFill>
                  <a:latin typeface="Work Sans"/>
                  <a:ea typeface="Work Sans"/>
                  <a:cs typeface="Work Sans"/>
                  <a:sym typeface="Work Sans"/>
                </a:rPr>
                <a:t>Fetches AI Models</a:t>
              </a:r>
            </a:p>
          </p:txBody>
        </p:sp>
      </p:grpSp>
      <p:grpSp>
        <p:nvGrpSpPr>
          <p:cNvPr name="Group 22" id="22"/>
          <p:cNvGrpSpPr/>
          <p:nvPr/>
        </p:nvGrpSpPr>
        <p:grpSpPr>
          <a:xfrm rot="0">
            <a:off x="13201936" y="7224842"/>
            <a:ext cx="3675092" cy="2278096"/>
            <a:chOff x="0" y="0"/>
            <a:chExt cx="967925" cy="599992"/>
          </a:xfrm>
        </p:grpSpPr>
        <p:sp>
          <p:nvSpPr>
            <p:cNvPr name="Freeform 23" id="23"/>
            <p:cNvSpPr/>
            <p:nvPr/>
          </p:nvSpPr>
          <p:spPr>
            <a:xfrm flipH="false" flipV="false" rot="0">
              <a:off x="0" y="0"/>
              <a:ext cx="967926" cy="599992"/>
            </a:xfrm>
            <a:custGeom>
              <a:avLst/>
              <a:gdLst/>
              <a:ahLst/>
              <a:cxnLst/>
              <a:rect r="r" b="b" t="t" l="l"/>
              <a:pathLst>
                <a:path h="599992" w="967926">
                  <a:moveTo>
                    <a:pt x="52665" y="0"/>
                  </a:moveTo>
                  <a:lnTo>
                    <a:pt x="915261" y="0"/>
                  </a:lnTo>
                  <a:cubicBezTo>
                    <a:pt x="944347" y="0"/>
                    <a:pt x="967926" y="23579"/>
                    <a:pt x="967926" y="52665"/>
                  </a:cubicBezTo>
                  <a:lnTo>
                    <a:pt x="967926" y="547328"/>
                  </a:lnTo>
                  <a:cubicBezTo>
                    <a:pt x="967926" y="576414"/>
                    <a:pt x="944347" y="599992"/>
                    <a:pt x="915261" y="599992"/>
                  </a:cubicBezTo>
                  <a:lnTo>
                    <a:pt x="52665" y="599992"/>
                  </a:lnTo>
                  <a:cubicBezTo>
                    <a:pt x="23579" y="599992"/>
                    <a:pt x="0" y="576414"/>
                    <a:pt x="0" y="547328"/>
                  </a:cubicBezTo>
                  <a:lnTo>
                    <a:pt x="0" y="52665"/>
                  </a:lnTo>
                  <a:cubicBezTo>
                    <a:pt x="0" y="23579"/>
                    <a:pt x="23579" y="0"/>
                    <a:pt x="52665" y="0"/>
                  </a:cubicBezTo>
                  <a:close/>
                </a:path>
              </a:pathLst>
            </a:custGeom>
            <a:solidFill>
              <a:srgbClr val="B9D2B7"/>
            </a:solidFill>
            <a:ln w="38100" cap="rnd">
              <a:solidFill>
                <a:srgbClr val="000000"/>
              </a:solidFill>
              <a:prstDash val="sysDot"/>
              <a:round/>
            </a:ln>
          </p:spPr>
        </p:sp>
        <p:sp>
          <p:nvSpPr>
            <p:cNvPr name="TextBox 24" id="24"/>
            <p:cNvSpPr txBox="true"/>
            <p:nvPr/>
          </p:nvSpPr>
          <p:spPr>
            <a:xfrm>
              <a:off x="0" y="-47625"/>
              <a:ext cx="967925" cy="647617"/>
            </a:xfrm>
            <a:prstGeom prst="rect">
              <a:avLst/>
            </a:prstGeom>
          </p:spPr>
          <p:txBody>
            <a:bodyPr anchor="ctr" rtlCol="false" tIns="50800" lIns="50800" bIns="50800" rIns="50800"/>
            <a:lstStyle/>
            <a:p>
              <a:pPr algn="ctr">
                <a:lnSpc>
                  <a:spcPts val="3079"/>
                </a:lnSpc>
              </a:pPr>
              <a:r>
                <a:rPr lang="en-US" sz="2199">
                  <a:solidFill>
                    <a:srgbClr val="242526"/>
                  </a:solidFill>
                  <a:latin typeface="Work Sans"/>
                  <a:ea typeface="Work Sans"/>
                  <a:cs typeface="Work Sans"/>
                  <a:sym typeface="Work Sans"/>
                </a:rPr>
                <a:t>Uses the models and generates feedback or report images</a:t>
              </a:r>
            </a:p>
          </p:txBody>
        </p:sp>
      </p:grpSp>
      <p:sp>
        <p:nvSpPr>
          <p:cNvPr name="AutoShape 25" id="25"/>
          <p:cNvSpPr/>
          <p:nvPr/>
        </p:nvSpPr>
        <p:spPr>
          <a:xfrm flipH="true">
            <a:off x="15039482" y="4128553"/>
            <a:ext cx="1344" cy="3096290"/>
          </a:xfrm>
          <a:prstGeom prst="line">
            <a:avLst/>
          </a:prstGeom>
          <a:ln cap="flat" w="57150">
            <a:solidFill>
              <a:srgbClr val="000000"/>
            </a:solidFill>
            <a:prstDash val="sysDot"/>
            <a:headEnd type="none" len="sm" w="sm"/>
            <a:tailEnd type="triangle" len="med" w="lg"/>
          </a:ln>
        </p:spPr>
      </p:sp>
      <p:grpSp>
        <p:nvGrpSpPr>
          <p:cNvPr name="Group 26" id="26"/>
          <p:cNvGrpSpPr/>
          <p:nvPr/>
        </p:nvGrpSpPr>
        <p:grpSpPr>
          <a:xfrm rot="0">
            <a:off x="7307226" y="7224842"/>
            <a:ext cx="3675092" cy="2278096"/>
            <a:chOff x="0" y="0"/>
            <a:chExt cx="967925" cy="599992"/>
          </a:xfrm>
        </p:grpSpPr>
        <p:sp>
          <p:nvSpPr>
            <p:cNvPr name="Freeform 27" id="27"/>
            <p:cNvSpPr/>
            <p:nvPr/>
          </p:nvSpPr>
          <p:spPr>
            <a:xfrm flipH="false" flipV="false" rot="0">
              <a:off x="0" y="0"/>
              <a:ext cx="967926" cy="599992"/>
            </a:xfrm>
            <a:custGeom>
              <a:avLst/>
              <a:gdLst/>
              <a:ahLst/>
              <a:cxnLst/>
              <a:rect r="r" b="b" t="t" l="l"/>
              <a:pathLst>
                <a:path h="599992" w="967926">
                  <a:moveTo>
                    <a:pt x="42132" y="0"/>
                  </a:moveTo>
                  <a:lnTo>
                    <a:pt x="925794" y="0"/>
                  </a:lnTo>
                  <a:cubicBezTo>
                    <a:pt x="936968" y="0"/>
                    <a:pt x="947684" y="4439"/>
                    <a:pt x="955585" y="12340"/>
                  </a:cubicBezTo>
                  <a:cubicBezTo>
                    <a:pt x="963487" y="20241"/>
                    <a:pt x="967926" y="30958"/>
                    <a:pt x="967926" y="42132"/>
                  </a:cubicBezTo>
                  <a:lnTo>
                    <a:pt x="967926" y="557861"/>
                  </a:lnTo>
                  <a:cubicBezTo>
                    <a:pt x="967926" y="569035"/>
                    <a:pt x="963487" y="579751"/>
                    <a:pt x="955585" y="587652"/>
                  </a:cubicBezTo>
                  <a:cubicBezTo>
                    <a:pt x="947684" y="595554"/>
                    <a:pt x="936968" y="599992"/>
                    <a:pt x="925794" y="599992"/>
                  </a:cubicBezTo>
                  <a:lnTo>
                    <a:pt x="42132" y="599992"/>
                  </a:lnTo>
                  <a:cubicBezTo>
                    <a:pt x="30958" y="599992"/>
                    <a:pt x="20241" y="595554"/>
                    <a:pt x="12340" y="587652"/>
                  </a:cubicBezTo>
                  <a:cubicBezTo>
                    <a:pt x="4439" y="579751"/>
                    <a:pt x="0" y="569035"/>
                    <a:pt x="0" y="557861"/>
                  </a:cubicBezTo>
                  <a:lnTo>
                    <a:pt x="0" y="42132"/>
                  </a:lnTo>
                  <a:cubicBezTo>
                    <a:pt x="0" y="30958"/>
                    <a:pt x="4439" y="20241"/>
                    <a:pt x="12340" y="12340"/>
                  </a:cubicBezTo>
                  <a:cubicBezTo>
                    <a:pt x="20241" y="4439"/>
                    <a:pt x="30958" y="0"/>
                    <a:pt x="42132" y="0"/>
                  </a:cubicBezTo>
                  <a:close/>
                </a:path>
              </a:pathLst>
            </a:custGeom>
            <a:solidFill>
              <a:srgbClr val="F5DBDA"/>
            </a:solidFill>
            <a:ln w="38100" cap="sq">
              <a:solidFill>
                <a:srgbClr val="000000"/>
              </a:solidFill>
              <a:prstDash val="sysDot"/>
              <a:miter/>
            </a:ln>
          </p:spPr>
        </p:sp>
        <p:sp>
          <p:nvSpPr>
            <p:cNvPr name="TextBox 28" id="28"/>
            <p:cNvSpPr txBox="true"/>
            <p:nvPr/>
          </p:nvSpPr>
          <p:spPr>
            <a:xfrm>
              <a:off x="0" y="-47625"/>
              <a:ext cx="967925" cy="647617"/>
            </a:xfrm>
            <a:prstGeom prst="rect">
              <a:avLst/>
            </a:prstGeom>
          </p:spPr>
          <p:txBody>
            <a:bodyPr anchor="ctr" rtlCol="false" tIns="50800" lIns="50800" bIns="50800" rIns="50800"/>
            <a:lstStyle/>
            <a:p>
              <a:pPr algn="ctr">
                <a:lnSpc>
                  <a:spcPts val="3079"/>
                </a:lnSpc>
              </a:pPr>
              <a:r>
                <a:rPr lang="en-US" sz="2199">
                  <a:solidFill>
                    <a:srgbClr val="242526"/>
                  </a:solidFill>
                  <a:latin typeface="Work Sans"/>
                  <a:ea typeface="Work Sans"/>
                  <a:cs typeface="Work Sans"/>
                  <a:sym typeface="Work Sans"/>
                </a:rPr>
                <a:t>Stores the images from SPIDTECH+ and Syncs with SPIDHIVE</a:t>
              </a:r>
            </a:p>
          </p:txBody>
        </p:sp>
      </p:grpSp>
      <p:sp>
        <p:nvSpPr>
          <p:cNvPr name="AutoShape 29" id="29"/>
          <p:cNvSpPr/>
          <p:nvPr/>
        </p:nvSpPr>
        <p:spPr>
          <a:xfrm flipH="true">
            <a:off x="10982318" y="8363890"/>
            <a:ext cx="2219619" cy="0"/>
          </a:xfrm>
          <a:prstGeom prst="line">
            <a:avLst/>
          </a:prstGeom>
          <a:ln cap="flat" w="57150">
            <a:solidFill>
              <a:srgbClr val="000000"/>
            </a:solidFill>
            <a:prstDash val="solid"/>
            <a:headEnd type="none" len="sm" w="sm"/>
            <a:tailEnd type="triangle" len="med" w="lg"/>
          </a:ln>
        </p:spPr>
      </p:sp>
      <p:grpSp>
        <p:nvGrpSpPr>
          <p:cNvPr name="Group 30" id="30"/>
          <p:cNvGrpSpPr/>
          <p:nvPr/>
        </p:nvGrpSpPr>
        <p:grpSpPr>
          <a:xfrm rot="0">
            <a:off x="1410972" y="7224842"/>
            <a:ext cx="3675092" cy="2278096"/>
            <a:chOff x="0" y="0"/>
            <a:chExt cx="967925" cy="599992"/>
          </a:xfrm>
        </p:grpSpPr>
        <p:sp>
          <p:nvSpPr>
            <p:cNvPr name="Freeform 31" id="31"/>
            <p:cNvSpPr/>
            <p:nvPr/>
          </p:nvSpPr>
          <p:spPr>
            <a:xfrm flipH="false" flipV="false" rot="0">
              <a:off x="0" y="0"/>
              <a:ext cx="967926" cy="599992"/>
            </a:xfrm>
            <a:custGeom>
              <a:avLst/>
              <a:gdLst/>
              <a:ahLst/>
              <a:cxnLst/>
              <a:rect r="r" b="b" t="t" l="l"/>
              <a:pathLst>
                <a:path h="599992" w="967926">
                  <a:moveTo>
                    <a:pt x="52665" y="0"/>
                  </a:moveTo>
                  <a:lnTo>
                    <a:pt x="915261" y="0"/>
                  </a:lnTo>
                  <a:cubicBezTo>
                    <a:pt x="944347" y="0"/>
                    <a:pt x="967926" y="23579"/>
                    <a:pt x="967926" y="52665"/>
                  </a:cubicBezTo>
                  <a:lnTo>
                    <a:pt x="967926" y="547328"/>
                  </a:lnTo>
                  <a:cubicBezTo>
                    <a:pt x="967926" y="576414"/>
                    <a:pt x="944347" y="599992"/>
                    <a:pt x="915261" y="599992"/>
                  </a:cubicBezTo>
                  <a:lnTo>
                    <a:pt x="52665" y="599992"/>
                  </a:lnTo>
                  <a:cubicBezTo>
                    <a:pt x="23579" y="599992"/>
                    <a:pt x="0" y="576414"/>
                    <a:pt x="0" y="547328"/>
                  </a:cubicBezTo>
                  <a:lnTo>
                    <a:pt x="0" y="52665"/>
                  </a:lnTo>
                  <a:cubicBezTo>
                    <a:pt x="0" y="23579"/>
                    <a:pt x="23579" y="0"/>
                    <a:pt x="52665" y="0"/>
                  </a:cubicBezTo>
                  <a:close/>
                </a:path>
              </a:pathLst>
            </a:custGeom>
            <a:solidFill>
              <a:srgbClr val="B9D2B7"/>
            </a:solidFill>
            <a:ln w="38100" cap="rnd">
              <a:solidFill>
                <a:srgbClr val="000000"/>
              </a:solidFill>
              <a:prstDash val="sysDot"/>
              <a:round/>
            </a:ln>
          </p:spPr>
        </p:sp>
        <p:sp>
          <p:nvSpPr>
            <p:cNvPr name="TextBox 32" id="32"/>
            <p:cNvSpPr txBox="true"/>
            <p:nvPr/>
          </p:nvSpPr>
          <p:spPr>
            <a:xfrm>
              <a:off x="0" y="-57150"/>
              <a:ext cx="967925" cy="657142"/>
            </a:xfrm>
            <a:prstGeom prst="rect">
              <a:avLst/>
            </a:prstGeom>
          </p:spPr>
          <p:txBody>
            <a:bodyPr anchor="ctr" rtlCol="false" tIns="50800" lIns="50800" bIns="50800" rIns="50800"/>
            <a:lstStyle/>
            <a:p>
              <a:pPr algn="ctr">
                <a:lnSpc>
                  <a:spcPts val="3359"/>
                </a:lnSpc>
              </a:pPr>
              <a:r>
                <a:rPr lang="en-US" sz="2399">
                  <a:solidFill>
                    <a:srgbClr val="242526"/>
                  </a:solidFill>
                  <a:latin typeface="Work Sans"/>
                  <a:ea typeface="Work Sans"/>
                  <a:cs typeface="Work Sans"/>
                  <a:sym typeface="Work Sans"/>
                </a:rPr>
                <a:t>Displays images for expert evaluation</a:t>
              </a:r>
            </a:p>
          </p:txBody>
        </p:sp>
      </p:grpSp>
      <p:sp>
        <p:nvSpPr>
          <p:cNvPr name="AutoShape 33" id="33"/>
          <p:cNvSpPr/>
          <p:nvPr/>
        </p:nvSpPr>
        <p:spPr>
          <a:xfrm flipH="true">
            <a:off x="5086064" y="8363890"/>
            <a:ext cx="2221162" cy="0"/>
          </a:xfrm>
          <a:prstGeom prst="line">
            <a:avLst/>
          </a:prstGeom>
          <a:ln cap="flat" w="57150">
            <a:solidFill>
              <a:srgbClr val="000000"/>
            </a:solidFill>
            <a:prstDash val="solid"/>
            <a:headEnd type="none" len="sm" w="sm"/>
            <a:tailEnd type="triangle" len="med" w="lg"/>
          </a:ln>
        </p:spPr>
      </p:sp>
      <p:grpSp>
        <p:nvGrpSpPr>
          <p:cNvPr name="Group 34" id="34"/>
          <p:cNvGrpSpPr/>
          <p:nvPr/>
        </p:nvGrpSpPr>
        <p:grpSpPr>
          <a:xfrm rot="0">
            <a:off x="1705182" y="5042739"/>
            <a:ext cx="3086100" cy="1267916"/>
            <a:chOff x="0" y="0"/>
            <a:chExt cx="812800" cy="333937"/>
          </a:xfrm>
        </p:grpSpPr>
        <p:sp>
          <p:nvSpPr>
            <p:cNvPr name="Freeform 35" id="35"/>
            <p:cNvSpPr/>
            <p:nvPr/>
          </p:nvSpPr>
          <p:spPr>
            <a:xfrm flipH="false" flipV="false" rot="0">
              <a:off x="0" y="0"/>
              <a:ext cx="812800" cy="333937"/>
            </a:xfrm>
            <a:custGeom>
              <a:avLst/>
              <a:gdLst/>
              <a:ahLst/>
              <a:cxnLst/>
              <a:rect r="r" b="b" t="t" l="l"/>
              <a:pathLst>
                <a:path h="333937" w="812800">
                  <a:moveTo>
                    <a:pt x="406400" y="0"/>
                  </a:moveTo>
                  <a:cubicBezTo>
                    <a:pt x="181951" y="0"/>
                    <a:pt x="0" y="74754"/>
                    <a:pt x="0" y="166968"/>
                  </a:cubicBezTo>
                  <a:cubicBezTo>
                    <a:pt x="0" y="259182"/>
                    <a:pt x="181951" y="333937"/>
                    <a:pt x="406400" y="333937"/>
                  </a:cubicBezTo>
                  <a:cubicBezTo>
                    <a:pt x="630849" y="333937"/>
                    <a:pt x="812800" y="259182"/>
                    <a:pt x="812800" y="166968"/>
                  </a:cubicBezTo>
                  <a:cubicBezTo>
                    <a:pt x="812800" y="74754"/>
                    <a:pt x="630849" y="0"/>
                    <a:pt x="406400" y="0"/>
                  </a:cubicBezTo>
                  <a:close/>
                </a:path>
              </a:pathLst>
            </a:custGeom>
            <a:solidFill>
              <a:srgbClr val="B9D2B7"/>
            </a:solidFill>
            <a:ln w="38100" cap="sq">
              <a:solidFill>
                <a:srgbClr val="000000"/>
              </a:solidFill>
              <a:prstDash val="sysDot"/>
              <a:miter/>
            </a:ln>
          </p:spPr>
        </p:sp>
        <p:sp>
          <p:nvSpPr>
            <p:cNvPr name="TextBox 36" id="36"/>
            <p:cNvSpPr txBox="true"/>
            <p:nvPr/>
          </p:nvSpPr>
          <p:spPr>
            <a:xfrm>
              <a:off x="76200" y="-16318"/>
              <a:ext cx="660400" cy="318949"/>
            </a:xfrm>
            <a:prstGeom prst="rect">
              <a:avLst/>
            </a:prstGeom>
          </p:spPr>
          <p:txBody>
            <a:bodyPr anchor="ctr" rtlCol="false" tIns="50800" lIns="50800" bIns="50800" rIns="50800"/>
            <a:lstStyle/>
            <a:p>
              <a:pPr algn="ctr">
                <a:lnSpc>
                  <a:spcPts val="2799"/>
                </a:lnSpc>
              </a:pPr>
              <a:r>
                <a:rPr lang="en-US" sz="1999">
                  <a:solidFill>
                    <a:srgbClr val="242526"/>
                  </a:solidFill>
                  <a:latin typeface="Work Sans"/>
                  <a:ea typeface="Work Sans"/>
                  <a:cs typeface="Work Sans"/>
                  <a:sym typeface="Work Sans"/>
                </a:rPr>
                <a:t>Available Datasets</a:t>
              </a:r>
            </a:p>
          </p:txBody>
        </p:sp>
      </p:grpSp>
      <p:sp>
        <p:nvSpPr>
          <p:cNvPr name="TextBox 37" id="37"/>
          <p:cNvSpPr txBox="true"/>
          <p:nvPr/>
        </p:nvSpPr>
        <p:spPr>
          <a:xfrm rot="0">
            <a:off x="1899656" y="590550"/>
            <a:ext cx="2699266" cy="781050"/>
          </a:xfrm>
          <a:prstGeom prst="rect">
            <a:avLst/>
          </a:prstGeom>
        </p:spPr>
        <p:txBody>
          <a:bodyPr anchor="t" rtlCol="false" tIns="0" lIns="0" bIns="0" rIns="0">
            <a:spAutoFit/>
          </a:bodyPr>
          <a:lstStyle/>
          <a:p>
            <a:pPr algn="ctr">
              <a:lnSpc>
                <a:spcPts val="6299"/>
              </a:lnSpc>
              <a:spcBef>
                <a:spcPct val="0"/>
              </a:spcBef>
            </a:pPr>
            <a:r>
              <a:rPr lang="en-US" b="true" sz="4500">
                <a:solidFill>
                  <a:srgbClr val="242526"/>
                </a:solidFill>
                <a:latin typeface="Work Sans Bold"/>
                <a:ea typeface="Work Sans Bold"/>
                <a:cs typeface="Work Sans Bold"/>
                <a:sym typeface="Work Sans Bold"/>
              </a:rPr>
              <a:t>SPIDHIVE</a:t>
            </a:r>
          </a:p>
        </p:txBody>
      </p:sp>
      <p:sp>
        <p:nvSpPr>
          <p:cNvPr name="TextBox 38" id="38"/>
          <p:cNvSpPr txBox="true"/>
          <p:nvPr/>
        </p:nvSpPr>
        <p:spPr>
          <a:xfrm rot="0">
            <a:off x="13432887" y="590550"/>
            <a:ext cx="3215878" cy="781050"/>
          </a:xfrm>
          <a:prstGeom prst="rect">
            <a:avLst/>
          </a:prstGeom>
        </p:spPr>
        <p:txBody>
          <a:bodyPr anchor="t" rtlCol="false" tIns="0" lIns="0" bIns="0" rIns="0">
            <a:spAutoFit/>
          </a:bodyPr>
          <a:lstStyle/>
          <a:p>
            <a:pPr algn="ctr">
              <a:lnSpc>
                <a:spcPts val="6299"/>
              </a:lnSpc>
              <a:spcBef>
                <a:spcPct val="0"/>
              </a:spcBef>
            </a:pPr>
            <a:r>
              <a:rPr lang="en-US" b="true" sz="4500">
                <a:solidFill>
                  <a:srgbClr val="242526"/>
                </a:solidFill>
                <a:latin typeface="Work Sans Bold"/>
                <a:ea typeface="Work Sans Bold"/>
                <a:cs typeface="Work Sans Bold"/>
                <a:sym typeface="Work Sans Bold"/>
              </a:rPr>
              <a:t>SPIDTECH+</a:t>
            </a:r>
          </a:p>
        </p:txBody>
      </p:sp>
      <p:sp>
        <p:nvSpPr>
          <p:cNvPr name="TextBox 39" id="39"/>
          <p:cNvSpPr txBox="true"/>
          <p:nvPr/>
        </p:nvSpPr>
        <p:spPr>
          <a:xfrm rot="0">
            <a:off x="7640062" y="590550"/>
            <a:ext cx="3007876" cy="781050"/>
          </a:xfrm>
          <a:prstGeom prst="rect">
            <a:avLst/>
          </a:prstGeom>
        </p:spPr>
        <p:txBody>
          <a:bodyPr anchor="t" rtlCol="false" tIns="0" lIns="0" bIns="0" rIns="0">
            <a:spAutoFit/>
          </a:bodyPr>
          <a:lstStyle/>
          <a:p>
            <a:pPr algn="ctr">
              <a:lnSpc>
                <a:spcPts val="6299"/>
              </a:lnSpc>
              <a:spcBef>
                <a:spcPct val="0"/>
              </a:spcBef>
            </a:pPr>
            <a:r>
              <a:rPr lang="en-US" b="true" sz="4500">
                <a:solidFill>
                  <a:srgbClr val="FFFEF5"/>
                </a:solidFill>
                <a:latin typeface="Work Sans Bold"/>
                <a:ea typeface="Work Sans Bold"/>
                <a:cs typeface="Work Sans Bold"/>
                <a:sym typeface="Work Sans Bold"/>
              </a:rPr>
              <a:t>SUPABASE</a:t>
            </a:r>
          </a:p>
        </p:txBody>
      </p:sp>
      <p:sp>
        <p:nvSpPr>
          <p:cNvPr name="AutoShape 40" id="40"/>
          <p:cNvSpPr/>
          <p:nvPr/>
        </p:nvSpPr>
        <p:spPr>
          <a:xfrm>
            <a:off x="3248232" y="6310655"/>
            <a:ext cx="286" cy="914187"/>
          </a:xfrm>
          <a:prstGeom prst="line">
            <a:avLst/>
          </a:prstGeom>
          <a:ln cap="flat" w="57150">
            <a:solidFill>
              <a:srgbClr val="000000"/>
            </a:solidFill>
            <a:prstDash val="sysDot"/>
            <a:headEnd type="triangle" len="med" w="lg"/>
            <a:tailEnd type="none" len="sm" w="sm"/>
          </a:ln>
        </p:spPr>
      </p:sp>
      <p:sp>
        <p:nvSpPr>
          <p:cNvPr name="TextBox 41" id="41"/>
          <p:cNvSpPr txBox="true"/>
          <p:nvPr/>
        </p:nvSpPr>
        <p:spPr>
          <a:xfrm rot="0">
            <a:off x="3438154" y="6445169"/>
            <a:ext cx="1445799" cy="559435"/>
          </a:xfrm>
          <a:prstGeom prst="rect">
            <a:avLst/>
          </a:prstGeom>
        </p:spPr>
        <p:txBody>
          <a:bodyPr anchor="t" rtlCol="false" tIns="0" lIns="0" bIns="0" rIns="0">
            <a:spAutoFit/>
          </a:bodyPr>
          <a:lstStyle/>
          <a:p>
            <a:pPr algn="ctr">
              <a:lnSpc>
                <a:spcPts val="2239"/>
              </a:lnSpc>
              <a:spcBef>
                <a:spcPct val="0"/>
              </a:spcBef>
            </a:pPr>
            <a:r>
              <a:rPr lang="en-US" sz="1599">
                <a:solidFill>
                  <a:srgbClr val="242526"/>
                </a:solidFill>
                <a:latin typeface="Work Sans"/>
                <a:ea typeface="Work Sans"/>
                <a:cs typeface="Work Sans"/>
                <a:sym typeface="Work Sans"/>
              </a:rPr>
              <a:t>validated by experts</a:t>
            </a:r>
          </a:p>
        </p:txBody>
      </p:sp>
      <p:sp>
        <p:nvSpPr>
          <p:cNvPr name="AutoShape 42" id="42"/>
          <p:cNvSpPr/>
          <p:nvPr/>
        </p:nvSpPr>
        <p:spPr>
          <a:xfrm flipH="true">
            <a:off x="3248232" y="4128553"/>
            <a:ext cx="1058" cy="914187"/>
          </a:xfrm>
          <a:prstGeom prst="line">
            <a:avLst/>
          </a:prstGeom>
          <a:ln cap="flat" w="57150">
            <a:solidFill>
              <a:srgbClr val="000000"/>
            </a:solidFill>
            <a:prstDash val="sysDot"/>
            <a:headEnd type="triangle" len="med" w="lg"/>
            <a:tailEnd type="none" len="sm" w="sm"/>
          </a:ln>
        </p:spPr>
      </p:sp>
      <p:sp>
        <p:nvSpPr>
          <p:cNvPr name="TextBox 43" id="43"/>
          <p:cNvSpPr txBox="true"/>
          <p:nvPr/>
        </p:nvSpPr>
        <p:spPr>
          <a:xfrm rot="0">
            <a:off x="3431208" y="4178504"/>
            <a:ext cx="1824513" cy="835660"/>
          </a:xfrm>
          <a:prstGeom prst="rect">
            <a:avLst/>
          </a:prstGeom>
        </p:spPr>
        <p:txBody>
          <a:bodyPr anchor="t" rtlCol="false" tIns="0" lIns="0" bIns="0" rIns="0">
            <a:spAutoFit/>
          </a:bodyPr>
          <a:lstStyle/>
          <a:p>
            <a:pPr algn="ctr">
              <a:lnSpc>
                <a:spcPts val="2239"/>
              </a:lnSpc>
              <a:spcBef>
                <a:spcPct val="0"/>
              </a:spcBef>
            </a:pPr>
            <a:r>
              <a:rPr lang="en-US" sz="1599">
                <a:solidFill>
                  <a:srgbClr val="242526"/>
                </a:solidFill>
                <a:latin typeface="Work Sans"/>
                <a:ea typeface="Work Sans"/>
                <a:cs typeface="Work Sans"/>
                <a:sym typeface="Work Sans"/>
              </a:rPr>
              <a:t>downloads datasets and used for training</a:t>
            </a:r>
          </a:p>
        </p:txBody>
      </p:sp>
    </p:spTree>
  </p:cSld>
  <p:clrMapOvr>
    <a:masterClrMapping/>
  </p:clrMapOvr>
  <p:transition spd="slow">
    <p:push dir="u"/>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0" t="0" r="0" b="0"/>
          <a:stretch>
            <a:fillRect/>
          </a:stretch>
        </p:blipFill>
        <p:spPr>
          <a:xfrm flipH="false" flipV="false" rot="0">
            <a:off x="0" y="0"/>
            <a:ext cx="18288000" cy="10287000"/>
          </a:xfrm>
          <a:prstGeom prst="rect">
            <a:avLst/>
          </a:prstGeom>
        </p:spPr>
      </p:pic>
    </p:spTree>
  </p:cSld>
  <p:clrMapOvr>
    <a:masterClrMapping/>
  </p:clrMapOvr>
  <p:transition spd="slow">
    <p:push dir="u"/>
  </p:transition>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4"/>
            <p:extLst>
              <p:ext uri="{DAA4B4D4-6D71-4841-9C94-3DE7FCFB9230}">
                <p14:media xmlns:p14="http://schemas.microsoft.com/office/powerpoint/2010/main" r:embed="rId5">
                  <p14:trim st="0.0000" end="0.0000"/>
                </p14:media>
              </p:ext>
            </p:extLst>
          </p:nvPr>
        </p:nvPicPr>
        <p:blipFill>
          <a:blip r:embed="rId3"/>
          <a:srcRect l="0" t="0" r="0" b="0"/>
          <a:stretch>
            <a:fillRect/>
          </a:stretch>
        </p:blipFill>
        <p:spPr>
          <a:xfrm flipH="false" flipV="false" rot="0">
            <a:off x="0" y="0"/>
            <a:ext cx="18288000" cy="10287000"/>
          </a:xfrm>
          <a:prstGeom prst="rect">
            <a:avLst/>
          </a:prstGeom>
        </p:spPr>
      </p:pic>
    </p:spTree>
  </p:cSld>
  <p:clrMapOvr>
    <a:masterClrMapping/>
  </p:clrMapOvr>
  <p:transition spd="slow">
    <p:push dir="u"/>
  </p:transition>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0" t="0" r="0" b="0"/>
          <a:stretch>
            <a:fillRect/>
          </a:stretch>
        </p:blipFill>
        <p:spPr>
          <a:xfrm flipH="false" flipV="false" rot="0">
            <a:off x="0" y="0"/>
            <a:ext cx="18288000" cy="10287000"/>
          </a:xfrm>
          <a:prstGeom prst="rect">
            <a:avLst/>
          </a:prstGeom>
        </p:spPr>
      </p:pic>
    </p:spTree>
  </p:cSld>
  <p:clrMapOvr>
    <a:masterClrMapping/>
  </p:clrMapOvr>
  <p:transition spd="slow">
    <p:push dir="u"/>
  </p:transition>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0" t="0" r="0" b="0"/>
          <a:stretch>
            <a:fillRect/>
          </a:stretch>
        </p:blipFill>
        <p:spPr>
          <a:xfrm flipH="false" flipV="false" rot="0">
            <a:off x="0" y="0"/>
            <a:ext cx="18288000" cy="10287000"/>
          </a:xfrm>
          <a:prstGeom prst="rect">
            <a:avLst/>
          </a:prstGeom>
        </p:spPr>
      </p:pic>
    </p:spTree>
  </p:cSld>
  <p:clrMapOvr>
    <a:masterClrMapping/>
  </p:clrMapOvr>
  <p:transition spd="slow">
    <p:push dir="u"/>
  </p:transition>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0" t="0" r="0" b="0"/>
          <a:stretch>
            <a:fillRect/>
          </a:stretch>
        </p:blipFill>
        <p:spPr>
          <a:xfrm flipH="false" flipV="false" rot="0">
            <a:off x="0" y="0"/>
            <a:ext cx="18288000" cy="10287000"/>
          </a:xfrm>
          <a:prstGeom prst="rect">
            <a:avLst/>
          </a:prstGeom>
        </p:spPr>
      </p:pic>
    </p:spTree>
  </p:cSld>
  <p:clrMapOvr>
    <a:masterClrMapping/>
  </p:clrMapOvr>
  <p:transition spd="slow">
    <p:push dir="u"/>
  </p:transition>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0" t="0" r="0" b="0"/>
          <a:stretch>
            <a:fillRect/>
          </a:stretch>
        </p:blipFill>
        <p:spPr>
          <a:xfrm flipH="false" flipV="false" rot="0">
            <a:off x="0" y="0"/>
            <a:ext cx="18288000" cy="10287000"/>
          </a:xfrm>
          <a:prstGeom prst="rect">
            <a:avLst/>
          </a:prstGeom>
        </p:spPr>
      </p:pic>
    </p:spTree>
  </p:cSld>
  <p:clrMapOvr>
    <a:masterClrMapping/>
  </p:clrMapOvr>
  <p:transition spd="slow">
    <p:push dir="u"/>
  </p:transition>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4"/>
            <p:extLst>
              <p:ext uri="{DAA4B4D4-6D71-4841-9C94-3DE7FCFB9230}">
                <p14:media xmlns:p14="http://schemas.microsoft.com/office/powerpoint/2010/main" r:embed="rId5">
                  <p14:trim st="0.0000" end="3.3340"/>
                </p14:media>
              </p:ext>
            </p:extLst>
          </p:nvPr>
        </p:nvPicPr>
        <p:blipFill>
          <a:blip r:embed="rId3"/>
          <a:srcRect l="0" t="0" r="0" b="0"/>
          <a:stretch>
            <a:fillRect/>
          </a:stretch>
        </p:blipFill>
        <p:spPr>
          <a:xfrm flipH="false" flipV="false" rot="0">
            <a:off x="0" y="0"/>
            <a:ext cx="18288000" cy="10287000"/>
          </a:xfrm>
          <a:prstGeom prst="rect">
            <a:avLst/>
          </a:prstGeom>
        </p:spPr>
      </p:pic>
    </p:spTree>
  </p:cSld>
  <p:clrMapOvr>
    <a:masterClrMapping/>
  </p:clrMapOvr>
  <p:transition spd="slow">
    <p:push dir="u"/>
  </p:transition>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0" t="0" r="0" b="0"/>
          <a:stretch>
            <a:fillRect/>
          </a:stretch>
        </p:blipFill>
        <p:spPr>
          <a:xfrm flipH="false" flipV="false" rot="0">
            <a:off x="0" y="0"/>
            <a:ext cx="18288000" cy="10287000"/>
          </a:xfrm>
          <a:prstGeom prst="rect">
            <a:avLst/>
          </a:prstGeom>
        </p:spPr>
      </p:pic>
    </p:spTree>
  </p:cSld>
  <p:clrMapOvr>
    <a:masterClrMapping/>
  </p:clrMapOvr>
  <p:transition spd="slow">
    <p:push dir="u"/>
  </p:transition>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4"/>
            <p:extLst>
              <p:ext uri="{DAA4B4D4-6D71-4841-9C94-3DE7FCFB9230}">
                <p14:media xmlns:p14="http://schemas.microsoft.com/office/powerpoint/2010/main" r:embed="rId5">
                  <p14:trim st="0.0000" end="4.0010"/>
                </p14:media>
              </p:ext>
            </p:extLst>
          </p:nvPr>
        </p:nvPicPr>
        <p:blipFill>
          <a:blip r:embed="rId3"/>
          <a:srcRect l="0" t="0" r="0" b="0"/>
          <a:stretch>
            <a:fillRect/>
          </a:stretch>
        </p:blipFill>
        <p:spPr>
          <a:xfrm flipH="false" flipV="false" rot="0">
            <a:off x="0" y="0"/>
            <a:ext cx="18288000" cy="10287000"/>
          </a:xfrm>
          <a:prstGeom prst="rect">
            <a:avLst/>
          </a:prstGeom>
        </p:spPr>
      </p:pic>
    </p:spTree>
  </p:cSld>
  <p:clrMapOvr>
    <a:masterClrMapping/>
  </p:clrMapOvr>
  <p:transition spd="slow">
    <p:push dir="u"/>
  </p:transition>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20.xml><?xml version="1.0" encoding="utf-8"?>
<p:sld xmlns:p="http://schemas.openxmlformats.org/presentationml/2006/main" xmlns:a="http://schemas.openxmlformats.org/drawingml/2006/main">
  <p:cSld>
    <p:bg>
      <p:bgPr>
        <a:solidFill>
          <a:srgbClr val="FFFEF5"/>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5974250" cy="8229600"/>
            <a:chOff x="0" y="0"/>
            <a:chExt cx="1573465" cy="2167467"/>
          </a:xfrm>
        </p:grpSpPr>
        <p:sp>
          <p:nvSpPr>
            <p:cNvPr name="Freeform 3" id="3"/>
            <p:cNvSpPr/>
            <p:nvPr/>
          </p:nvSpPr>
          <p:spPr>
            <a:xfrm flipH="false" flipV="false" rot="0">
              <a:off x="0" y="0"/>
              <a:ext cx="1573465" cy="2167467"/>
            </a:xfrm>
            <a:custGeom>
              <a:avLst/>
              <a:gdLst/>
              <a:ahLst/>
              <a:cxnLst/>
              <a:rect r="r" b="b" t="t" l="l"/>
              <a:pathLst>
                <a:path h="2167467" w="1573465">
                  <a:moveTo>
                    <a:pt x="64794" y="0"/>
                  </a:moveTo>
                  <a:lnTo>
                    <a:pt x="1508671" y="0"/>
                  </a:lnTo>
                  <a:cubicBezTo>
                    <a:pt x="1544456" y="0"/>
                    <a:pt x="1573465" y="29009"/>
                    <a:pt x="1573465" y="64794"/>
                  </a:cubicBezTo>
                  <a:lnTo>
                    <a:pt x="1573465" y="2102673"/>
                  </a:lnTo>
                  <a:cubicBezTo>
                    <a:pt x="1573465" y="2138457"/>
                    <a:pt x="1544456" y="2167467"/>
                    <a:pt x="1508671" y="2167467"/>
                  </a:cubicBezTo>
                  <a:lnTo>
                    <a:pt x="64794" y="2167467"/>
                  </a:lnTo>
                  <a:cubicBezTo>
                    <a:pt x="47610" y="2167467"/>
                    <a:pt x="31129" y="2160640"/>
                    <a:pt x="18978" y="2148489"/>
                  </a:cubicBezTo>
                  <a:cubicBezTo>
                    <a:pt x="6826" y="2136338"/>
                    <a:pt x="0" y="2119857"/>
                    <a:pt x="0" y="2102673"/>
                  </a:cubicBezTo>
                  <a:lnTo>
                    <a:pt x="0" y="64794"/>
                  </a:lnTo>
                  <a:cubicBezTo>
                    <a:pt x="0" y="29009"/>
                    <a:pt x="29009" y="0"/>
                    <a:pt x="64794" y="0"/>
                  </a:cubicBezTo>
                  <a:close/>
                </a:path>
              </a:pathLst>
            </a:custGeom>
            <a:solidFill>
              <a:srgbClr val="742622"/>
            </a:solidFill>
          </p:spPr>
        </p:sp>
        <p:sp>
          <p:nvSpPr>
            <p:cNvPr name="TextBox 4" id="4"/>
            <p:cNvSpPr txBox="true"/>
            <p:nvPr/>
          </p:nvSpPr>
          <p:spPr>
            <a:xfrm>
              <a:off x="0" y="-57150"/>
              <a:ext cx="1573465" cy="2224617"/>
            </a:xfrm>
            <a:prstGeom prst="rect">
              <a:avLst/>
            </a:prstGeom>
          </p:spPr>
          <p:txBody>
            <a:bodyPr anchor="ctr" rtlCol="false" tIns="50800" lIns="50800" bIns="50800" rIns="50800"/>
            <a:lstStyle/>
            <a:p>
              <a:pPr algn="ctr">
                <a:lnSpc>
                  <a:spcPts val="3639"/>
                </a:lnSpc>
              </a:pPr>
            </a:p>
          </p:txBody>
        </p:sp>
      </p:grpSp>
      <p:sp>
        <p:nvSpPr>
          <p:cNvPr name="TextBox 5" id="5"/>
          <p:cNvSpPr txBox="true"/>
          <p:nvPr/>
        </p:nvSpPr>
        <p:spPr>
          <a:xfrm rot="0">
            <a:off x="1759194" y="2515007"/>
            <a:ext cx="4513262" cy="4758901"/>
          </a:xfrm>
          <a:prstGeom prst="rect">
            <a:avLst/>
          </a:prstGeom>
        </p:spPr>
        <p:txBody>
          <a:bodyPr anchor="t" rtlCol="false" tIns="0" lIns="0" bIns="0" rIns="0">
            <a:spAutoFit/>
          </a:bodyPr>
          <a:lstStyle/>
          <a:p>
            <a:pPr algn="ctr">
              <a:lnSpc>
                <a:spcPts val="39232"/>
              </a:lnSpc>
              <a:spcBef>
                <a:spcPct val="0"/>
              </a:spcBef>
            </a:pPr>
            <a:r>
              <a:rPr lang="en-US" b="true" sz="28022">
                <a:solidFill>
                  <a:srgbClr val="FFFEF5"/>
                </a:solidFill>
                <a:latin typeface="Work Sans Heavy"/>
                <a:ea typeface="Work Sans Heavy"/>
                <a:cs typeface="Work Sans Heavy"/>
                <a:sym typeface="Work Sans Heavy"/>
              </a:rPr>
              <a:t>88</a:t>
            </a:r>
          </a:p>
        </p:txBody>
      </p:sp>
      <p:sp>
        <p:nvSpPr>
          <p:cNvPr name="TextBox 6" id="6"/>
          <p:cNvSpPr txBox="true"/>
          <p:nvPr/>
        </p:nvSpPr>
        <p:spPr>
          <a:xfrm rot="0">
            <a:off x="1911769" y="6620707"/>
            <a:ext cx="4208113" cy="1163526"/>
          </a:xfrm>
          <a:prstGeom prst="rect">
            <a:avLst/>
          </a:prstGeom>
        </p:spPr>
        <p:txBody>
          <a:bodyPr anchor="t" rtlCol="false" tIns="0" lIns="0" bIns="0" rIns="0">
            <a:spAutoFit/>
          </a:bodyPr>
          <a:lstStyle/>
          <a:p>
            <a:pPr algn="ctr">
              <a:lnSpc>
                <a:spcPts val="9411"/>
              </a:lnSpc>
              <a:spcBef>
                <a:spcPct val="0"/>
              </a:spcBef>
            </a:pPr>
            <a:r>
              <a:rPr lang="en-US" b="true" sz="6722" spc="457">
                <a:solidFill>
                  <a:srgbClr val="FFFEF5"/>
                </a:solidFill>
                <a:latin typeface="Albert Sans Heavy"/>
                <a:ea typeface="Albert Sans Heavy"/>
                <a:cs typeface="Albert Sans Heavy"/>
                <a:sym typeface="Albert Sans Heavy"/>
              </a:rPr>
              <a:t>Excellent</a:t>
            </a:r>
          </a:p>
        </p:txBody>
      </p:sp>
      <p:sp>
        <p:nvSpPr>
          <p:cNvPr name="TextBox 7" id="7"/>
          <p:cNvSpPr txBox="true"/>
          <p:nvPr/>
        </p:nvSpPr>
        <p:spPr>
          <a:xfrm rot="0">
            <a:off x="2993376" y="1139421"/>
            <a:ext cx="2044898" cy="1294779"/>
          </a:xfrm>
          <a:prstGeom prst="rect">
            <a:avLst/>
          </a:prstGeom>
        </p:spPr>
        <p:txBody>
          <a:bodyPr anchor="t" rtlCol="false" tIns="0" lIns="0" bIns="0" rIns="0">
            <a:spAutoFit/>
          </a:bodyPr>
          <a:lstStyle/>
          <a:p>
            <a:pPr algn="ctr">
              <a:lnSpc>
                <a:spcPts val="10534"/>
              </a:lnSpc>
              <a:spcBef>
                <a:spcPct val="0"/>
              </a:spcBef>
            </a:pPr>
            <a:r>
              <a:rPr lang="en-US" b="true" sz="7524" spc="511">
                <a:solidFill>
                  <a:srgbClr val="FFFEF5"/>
                </a:solidFill>
                <a:latin typeface="Albert Sans Heavy"/>
                <a:ea typeface="Albert Sans Heavy"/>
                <a:cs typeface="Albert Sans Heavy"/>
                <a:sym typeface="Albert Sans Heavy"/>
              </a:rPr>
              <a:t>SUS</a:t>
            </a:r>
          </a:p>
        </p:txBody>
      </p:sp>
      <p:grpSp>
        <p:nvGrpSpPr>
          <p:cNvPr name="Group 8" id="8"/>
          <p:cNvGrpSpPr/>
          <p:nvPr/>
        </p:nvGrpSpPr>
        <p:grpSpPr>
          <a:xfrm rot="0">
            <a:off x="7592591" y="1051120"/>
            <a:ext cx="9666709" cy="1003278"/>
            <a:chOff x="0" y="0"/>
            <a:chExt cx="2545965" cy="264238"/>
          </a:xfrm>
        </p:grpSpPr>
        <p:sp>
          <p:nvSpPr>
            <p:cNvPr name="Freeform 9" id="9"/>
            <p:cNvSpPr/>
            <p:nvPr/>
          </p:nvSpPr>
          <p:spPr>
            <a:xfrm flipH="false" flipV="false" rot="0">
              <a:off x="0" y="0"/>
              <a:ext cx="2545965" cy="264238"/>
            </a:xfrm>
            <a:custGeom>
              <a:avLst/>
              <a:gdLst/>
              <a:ahLst/>
              <a:cxnLst/>
              <a:rect r="r" b="b" t="t" l="l"/>
              <a:pathLst>
                <a:path h="264238" w="2545965">
                  <a:moveTo>
                    <a:pt x="40044" y="0"/>
                  </a:moveTo>
                  <a:lnTo>
                    <a:pt x="2505920" y="0"/>
                  </a:lnTo>
                  <a:cubicBezTo>
                    <a:pt x="2528036" y="0"/>
                    <a:pt x="2545965" y="17928"/>
                    <a:pt x="2545965" y="40044"/>
                  </a:cubicBezTo>
                  <a:lnTo>
                    <a:pt x="2545965" y="224194"/>
                  </a:lnTo>
                  <a:cubicBezTo>
                    <a:pt x="2545965" y="246310"/>
                    <a:pt x="2528036" y="264238"/>
                    <a:pt x="2505920" y="264238"/>
                  </a:cubicBezTo>
                  <a:lnTo>
                    <a:pt x="40044" y="264238"/>
                  </a:lnTo>
                  <a:cubicBezTo>
                    <a:pt x="17928" y="264238"/>
                    <a:pt x="0" y="246310"/>
                    <a:pt x="0" y="224194"/>
                  </a:cubicBezTo>
                  <a:lnTo>
                    <a:pt x="0" y="40044"/>
                  </a:lnTo>
                  <a:cubicBezTo>
                    <a:pt x="0" y="17928"/>
                    <a:pt x="17928" y="0"/>
                    <a:pt x="40044" y="0"/>
                  </a:cubicBezTo>
                  <a:close/>
                </a:path>
              </a:pathLst>
            </a:custGeom>
            <a:solidFill>
              <a:srgbClr val="649C3E"/>
            </a:solidFill>
          </p:spPr>
        </p:sp>
        <p:sp>
          <p:nvSpPr>
            <p:cNvPr name="TextBox 10" id="10"/>
            <p:cNvSpPr txBox="true"/>
            <p:nvPr/>
          </p:nvSpPr>
          <p:spPr>
            <a:xfrm>
              <a:off x="0" y="-76200"/>
              <a:ext cx="2545965" cy="340438"/>
            </a:xfrm>
            <a:prstGeom prst="rect">
              <a:avLst/>
            </a:prstGeom>
          </p:spPr>
          <p:txBody>
            <a:bodyPr anchor="ctr" rtlCol="false" tIns="50800" lIns="50800" bIns="50800" rIns="50800"/>
            <a:lstStyle/>
            <a:p>
              <a:pPr algn="ctr">
                <a:lnSpc>
                  <a:spcPts val="4759"/>
                </a:lnSpc>
              </a:pPr>
              <a:r>
                <a:rPr lang="en-US" b="true" sz="3399">
                  <a:solidFill>
                    <a:srgbClr val="FFFEF5"/>
                  </a:solidFill>
                  <a:latin typeface="Work Sans Bold"/>
                  <a:ea typeface="Work Sans Bold"/>
                  <a:cs typeface="Work Sans Bold"/>
                  <a:sym typeface="Work Sans Bold"/>
                </a:rPr>
                <a:t>Workflow Automation</a:t>
              </a:r>
            </a:p>
          </p:txBody>
        </p:sp>
      </p:grpSp>
      <p:grpSp>
        <p:nvGrpSpPr>
          <p:cNvPr name="Group 11" id="11"/>
          <p:cNvGrpSpPr/>
          <p:nvPr/>
        </p:nvGrpSpPr>
        <p:grpSpPr>
          <a:xfrm rot="0">
            <a:off x="7592591" y="2251770"/>
            <a:ext cx="9666709" cy="1003278"/>
            <a:chOff x="0" y="0"/>
            <a:chExt cx="2545965" cy="264238"/>
          </a:xfrm>
        </p:grpSpPr>
        <p:sp>
          <p:nvSpPr>
            <p:cNvPr name="Freeform 12" id="12"/>
            <p:cNvSpPr/>
            <p:nvPr/>
          </p:nvSpPr>
          <p:spPr>
            <a:xfrm flipH="false" flipV="false" rot="0">
              <a:off x="0" y="0"/>
              <a:ext cx="2545965" cy="264238"/>
            </a:xfrm>
            <a:custGeom>
              <a:avLst/>
              <a:gdLst/>
              <a:ahLst/>
              <a:cxnLst/>
              <a:rect r="r" b="b" t="t" l="l"/>
              <a:pathLst>
                <a:path h="264238" w="2545965">
                  <a:moveTo>
                    <a:pt x="40044" y="0"/>
                  </a:moveTo>
                  <a:lnTo>
                    <a:pt x="2505920" y="0"/>
                  </a:lnTo>
                  <a:cubicBezTo>
                    <a:pt x="2528036" y="0"/>
                    <a:pt x="2545965" y="17928"/>
                    <a:pt x="2545965" y="40044"/>
                  </a:cubicBezTo>
                  <a:lnTo>
                    <a:pt x="2545965" y="224194"/>
                  </a:lnTo>
                  <a:cubicBezTo>
                    <a:pt x="2545965" y="246310"/>
                    <a:pt x="2528036" y="264238"/>
                    <a:pt x="2505920" y="264238"/>
                  </a:cubicBezTo>
                  <a:lnTo>
                    <a:pt x="40044" y="264238"/>
                  </a:lnTo>
                  <a:cubicBezTo>
                    <a:pt x="17928" y="264238"/>
                    <a:pt x="0" y="246310"/>
                    <a:pt x="0" y="224194"/>
                  </a:cubicBezTo>
                  <a:lnTo>
                    <a:pt x="0" y="40044"/>
                  </a:lnTo>
                  <a:cubicBezTo>
                    <a:pt x="0" y="17928"/>
                    <a:pt x="17928" y="0"/>
                    <a:pt x="40044" y="0"/>
                  </a:cubicBezTo>
                  <a:close/>
                </a:path>
              </a:pathLst>
            </a:custGeom>
            <a:solidFill>
              <a:srgbClr val="649C3E"/>
            </a:solidFill>
          </p:spPr>
        </p:sp>
        <p:sp>
          <p:nvSpPr>
            <p:cNvPr name="TextBox 13" id="13"/>
            <p:cNvSpPr txBox="true"/>
            <p:nvPr/>
          </p:nvSpPr>
          <p:spPr>
            <a:xfrm>
              <a:off x="0" y="-76200"/>
              <a:ext cx="2545965" cy="340438"/>
            </a:xfrm>
            <a:prstGeom prst="rect">
              <a:avLst/>
            </a:prstGeom>
          </p:spPr>
          <p:txBody>
            <a:bodyPr anchor="ctr" rtlCol="false" tIns="50800" lIns="50800" bIns="50800" rIns="50800"/>
            <a:lstStyle/>
            <a:p>
              <a:pPr algn="ctr">
                <a:lnSpc>
                  <a:spcPts val="4759"/>
                </a:lnSpc>
              </a:pPr>
              <a:r>
                <a:rPr lang="en-US" b="true" sz="3399">
                  <a:solidFill>
                    <a:srgbClr val="FFFEF5"/>
                  </a:solidFill>
                  <a:latin typeface="Work Sans Bold"/>
                  <a:ea typeface="Work Sans Bold"/>
                  <a:cs typeface="Work Sans Bold"/>
                  <a:sym typeface="Work Sans Bold"/>
                </a:rPr>
                <a:t>Information Architecture &amp; User Interface</a:t>
              </a:r>
            </a:p>
          </p:txBody>
        </p:sp>
      </p:grpSp>
      <p:grpSp>
        <p:nvGrpSpPr>
          <p:cNvPr name="Group 14" id="14"/>
          <p:cNvGrpSpPr/>
          <p:nvPr/>
        </p:nvGrpSpPr>
        <p:grpSpPr>
          <a:xfrm rot="0">
            <a:off x="7592591" y="3452420"/>
            <a:ext cx="9666709" cy="1003278"/>
            <a:chOff x="0" y="0"/>
            <a:chExt cx="2545965" cy="264238"/>
          </a:xfrm>
        </p:grpSpPr>
        <p:sp>
          <p:nvSpPr>
            <p:cNvPr name="Freeform 15" id="15"/>
            <p:cNvSpPr/>
            <p:nvPr/>
          </p:nvSpPr>
          <p:spPr>
            <a:xfrm flipH="false" flipV="false" rot="0">
              <a:off x="0" y="0"/>
              <a:ext cx="2545965" cy="264238"/>
            </a:xfrm>
            <a:custGeom>
              <a:avLst/>
              <a:gdLst/>
              <a:ahLst/>
              <a:cxnLst/>
              <a:rect r="r" b="b" t="t" l="l"/>
              <a:pathLst>
                <a:path h="264238" w="2545965">
                  <a:moveTo>
                    <a:pt x="40044" y="0"/>
                  </a:moveTo>
                  <a:lnTo>
                    <a:pt x="2505920" y="0"/>
                  </a:lnTo>
                  <a:cubicBezTo>
                    <a:pt x="2528036" y="0"/>
                    <a:pt x="2545965" y="17928"/>
                    <a:pt x="2545965" y="40044"/>
                  </a:cubicBezTo>
                  <a:lnTo>
                    <a:pt x="2545965" y="224194"/>
                  </a:lnTo>
                  <a:cubicBezTo>
                    <a:pt x="2545965" y="246310"/>
                    <a:pt x="2528036" y="264238"/>
                    <a:pt x="2505920" y="264238"/>
                  </a:cubicBezTo>
                  <a:lnTo>
                    <a:pt x="40044" y="264238"/>
                  </a:lnTo>
                  <a:cubicBezTo>
                    <a:pt x="17928" y="264238"/>
                    <a:pt x="0" y="246310"/>
                    <a:pt x="0" y="224194"/>
                  </a:cubicBezTo>
                  <a:lnTo>
                    <a:pt x="0" y="40044"/>
                  </a:lnTo>
                  <a:cubicBezTo>
                    <a:pt x="0" y="17928"/>
                    <a:pt x="17928" y="0"/>
                    <a:pt x="40044" y="0"/>
                  </a:cubicBezTo>
                  <a:close/>
                </a:path>
              </a:pathLst>
            </a:custGeom>
            <a:solidFill>
              <a:srgbClr val="649C3E"/>
            </a:solidFill>
          </p:spPr>
        </p:sp>
        <p:sp>
          <p:nvSpPr>
            <p:cNvPr name="TextBox 16" id="16"/>
            <p:cNvSpPr txBox="true"/>
            <p:nvPr/>
          </p:nvSpPr>
          <p:spPr>
            <a:xfrm>
              <a:off x="0" y="-76200"/>
              <a:ext cx="2545965" cy="340438"/>
            </a:xfrm>
            <a:prstGeom prst="rect">
              <a:avLst/>
            </a:prstGeom>
          </p:spPr>
          <p:txBody>
            <a:bodyPr anchor="ctr" rtlCol="false" tIns="50800" lIns="50800" bIns="50800" rIns="50800"/>
            <a:lstStyle/>
            <a:p>
              <a:pPr algn="ctr">
                <a:lnSpc>
                  <a:spcPts val="4759"/>
                </a:lnSpc>
              </a:pPr>
              <a:r>
                <a:rPr lang="en-US" b="true" sz="3399">
                  <a:solidFill>
                    <a:srgbClr val="FFFEF5"/>
                  </a:solidFill>
                  <a:latin typeface="Work Sans Bold"/>
                  <a:ea typeface="Work Sans Bold"/>
                  <a:cs typeface="Work Sans Bold"/>
                  <a:sym typeface="Work Sans Bold"/>
                </a:rPr>
                <a:t>System Security and Data Privacy</a:t>
              </a:r>
            </a:p>
          </p:txBody>
        </p:sp>
      </p:grpSp>
      <p:grpSp>
        <p:nvGrpSpPr>
          <p:cNvPr name="Group 17" id="17"/>
          <p:cNvGrpSpPr/>
          <p:nvPr/>
        </p:nvGrpSpPr>
        <p:grpSpPr>
          <a:xfrm rot="0">
            <a:off x="7592591" y="4653071"/>
            <a:ext cx="9666709" cy="1003278"/>
            <a:chOff x="0" y="0"/>
            <a:chExt cx="2545965" cy="264238"/>
          </a:xfrm>
        </p:grpSpPr>
        <p:sp>
          <p:nvSpPr>
            <p:cNvPr name="Freeform 18" id="18"/>
            <p:cNvSpPr/>
            <p:nvPr/>
          </p:nvSpPr>
          <p:spPr>
            <a:xfrm flipH="false" flipV="false" rot="0">
              <a:off x="0" y="0"/>
              <a:ext cx="2545965" cy="264238"/>
            </a:xfrm>
            <a:custGeom>
              <a:avLst/>
              <a:gdLst/>
              <a:ahLst/>
              <a:cxnLst/>
              <a:rect r="r" b="b" t="t" l="l"/>
              <a:pathLst>
                <a:path h="264238" w="2545965">
                  <a:moveTo>
                    <a:pt x="40044" y="0"/>
                  </a:moveTo>
                  <a:lnTo>
                    <a:pt x="2505920" y="0"/>
                  </a:lnTo>
                  <a:cubicBezTo>
                    <a:pt x="2528036" y="0"/>
                    <a:pt x="2545965" y="17928"/>
                    <a:pt x="2545965" y="40044"/>
                  </a:cubicBezTo>
                  <a:lnTo>
                    <a:pt x="2545965" y="224194"/>
                  </a:lnTo>
                  <a:cubicBezTo>
                    <a:pt x="2545965" y="246310"/>
                    <a:pt x="2528036" y="264238"/>
                    <a:pt x="2505920" y="264238"/>
                  </a:cubicBezTo>
                  <a:lnTo>
                    <a:pt x="40044" y="264238"/>
                  </a:lnTo>
                  <a:cubicBezTo>
                    <a:pt x="17928" y="264238"/>
                    <a:pt x="0" y="246310"/>
                    <a:pt x="0" y="224194"/>
                  </a:cubicBezTo>
                  <a:lnTo>
                    <a:pt x="0" y="40044"/>
                  </a:lnTo>
                  <a:cubicBezTo>
                    <a:pt x="0" y="17928"/>
                    <a:pt x="17928" y="0"/>
                    <a:pt x="40044" y="0"/>
                  </a:cubicBezTo>
                  <a:close/>
                </a:path>
              </a:pathLst>
            </a:custGeom>
            <a:solidFill>
              <a:srgbClr val="649C3E"/>
            </a:solidFill>
          </p:spPr>
        </p:sp>
        <p:sp>
          <p:nvSpPr>
            <p:cNvPr name="TextBox 19" id="19"/>
            <p:cNvSpPr txBox="true"/>
            <p:nvPr/>
          </p:nvSpPr>
          <p:spPr>
            <a:xfrm>
              <a:off x="0" y="-76200"/>
              <a:ext cx="2545965" cy="340438"/>
            </a:xfrm>
            <a:prstGeom prst="rect">
              <a:avLst/>
            </a:prstGeom>
          </p:spPr>
          <p:txBody>
            <a:bodyPr anchor="ctr" rtlCol="false" tIns="50800" lIns="50800" bIns="50800" rIns="50800"/>
            <a:lstStyle/>
            <a:p>
              <a:pPr algn="ctr">
                <a:lnSpc>
                  <a:spcPts val="4759"/>
                </a:lnSpc>
              </a:pPr>
              <a:r>
                <a:rPr lang="en-US" b="true" sz="3399">
                  <a:solidFill>
                    <a:srgbClr val="FFFEF5"/>
                  </a:solidFill>
                  <a:latin typeface="Work Sans Bold"/>
                  <a:ea typeface="Work Sans Bold"/>
                  <a:cs typeface="Work Sans Bold"/>
                  <a:sym typeface="Work Sans Bold"/>
                </a:rPr>
                <a:t>Retrieval and Navigation</a:t>
              </a:r>
            </a:p>
          </p:txBody>
        </p:sp>
      </p:grpSp>
      <p:grpSp>
        <p:nvGrpSpPr>
          <p:cNvPr name="Group 20" id="20"/>
          <p:cNvGrpSpPr/>
          <p:nvPr/>
        </p:nvGrpSpPr>
        <p:grpSpPr>
          <a:xfrm rot="0">
            <a:off x="7592591" y="5853721"/>
            <a:ext cx="9666709" cy="1003278"/>
            <a:chOff x="0" y="0"/>
            <a:chExt cx="2545965" cy="264238"/>
          </a:xfrm>
        </p:grpSpPr>
        <p:sp>
          <p:nvSpPr>
            <p:cNvPr name="Freeform 21" id="21"/>
            <p:cNvSpPr/>
            <p:nvPr/>
          </p:nvSpPr>
          <p:spPr>
            <a:xfrm flipH="false" flipV="false" rot="0">
              <a:off x="0" y="0"/>
              <a:ext cx="2545965" cy="264238"/>
            </a:xfrm>
            <a:custGeom>
              <a:avLst/>
              <a:gdLst/>
              <a:ahLst/>
              <a:cxnLst/>
              <a:rect r="r" b="b" t="t" l="l"/>
              <a:pathLst>
                <a:path h="264238" w="2545965">
                  <a:moveTo>
                    <a:pt x="40044" y="0"/>
                  </a:moveTo>
                  <a:lnTo>
                    <a:pt x="2505920" y="0"/>
                  </a:lnTo>
                  <a:cubicBezTo>
                    <a:pt x="2528036" y="0"/>
                    <a:pt x="2545965" y="17928"/>
                    <a:pt x="2545965" y="40044"/>
                  </a:cubicBezTo>
                  <a:lnTo>
                    <a:pt x="2545965" y="224194"/>
                  </a:lnTo>
                  <a:cubicBezTo>
                    <a:pt x="2545965" y="246310"/>
                    <a:pt x="2528036" y="264238"/>
                    <a:pt x="2505920" y="264238"/>
                  </a:cubicBezTo>
                  <a:lnTo>
                    <a:pt x="40044" y="264238"/>
                  </a:lnTo>
                  <a:cubicBezTo>
                    <a:pt x="17928" y="264238"/>
                    <a:pt x="0" y="246310"/>
                    <a:pt x="0" y="224194"/>
                  </a:cubicBezTo>
                  <a:lnTo>
                    <a:pt x="0" y="40044"/>
                  </a:lnTo>
                  <a:cubicBezTo>
                    <a:pt x="0" y="17928"/>
                    <a:pt x="17928" y="0"/>
                    <a:pt x="40044" y="0"/>
                  </a:cubicBezTo>
                  <a:close/>
                </a:path>
              </a:pathLst>
            </a:custGeom>
            <a:solidFill>
              <a:srgbClr val="3C7440"/>
            </a:solidFill>
          </p:spPr>
        </p:sp>
        <p:sp>
          <p:nvSpPr>
            <p:cNvPr name="TextBox 22" id="22"/>
            <p:cNvSpPr txBox="true"/>
            <p:nvPr/>
          </p:nvSpPr>
          <p:spPr>
            <a:xfrm>
              <a:off x="0" y="-76200"/>
              <a:ext cx="2545965" cy="340438"/>
            </a:xfrm>
            <a:prstGeom prst="rect">
              <a:avLst/>
            </a:prstGeom>
          </p:spPr>
          <p:txBody>
            <a:bodyPr anchor="ctr" rtlCol="false" tIns="50800" lIns="50800" bIns="50800" rIns="50800"/>
            <a:lstStyle/>
            <a:p>
              <a:pPr algn="ctr">
                <a:lnSpc>
                  <a:spcPts val="4759"/>
                </a:lnSpc>
              </a:pPr>
              <a:r>
                <a:rPr lang="en-US" b="true" sz="3399">
                  <a:solidFill>
                    <a:srgbClr val="FFFEF5"/>
                  </a:solidFill>
                  <a:latin typeface="Work Sans Bold"/>
                  <a:ea typeface="Work Sans Bold"/>
                  <a:cs typeface="Work Sans Bold"/>
                  <a:sym typeface="Work Sans Bold"/>
                </a:rPr>
                <a:t>UI Density and Context</a:t>
              </a:r>
            </a:p>
          </p:txBody>
        </p:sp>
      </p:grpSp>
      <p:grpSp>
        <p:nvGrpSpPr>
          <p:cNvPr name="Group 23" id="23"/>
          <p:cNvGrpSpPr/>
          <p:nvPr/>
        </p:nvGrpSpPr>
        <p:grpSpPr>
          <a:xfrm rot="0">
            <a:off x="7592591" y="7054371"/>
            <a:ext cx="9666709" cy="1003278"/>
            <a:chOff x="0" y="0"/>
            <a:chExt cx="2545965" cy="264238"/>
          </a:xfrm>
        </p:grpSpPr>
        <p:sp>
          <p:nvSpPr>
            <p:cNvPr name="Freeform 24" id="24"/>
            <p:cNvSpPr/>
            <p:nvPr/>
          </p:nvSpPr>
          <p:spPr>
            <a:xfrm flipH="false" flipV="false" rot="0">
              <a:off x="0" y="0"/>
              <a:ext cx="2545965" cy="264238"/>
            </a:xfrm>
            <a:custGeom>
              <a:avLst/>
              <a:gdLst/>
              <a:ahLst/>
              <a:cxnLst/>
              <a:rect r="r" b="b" t="t" l="l"/>
              <a:pathLst>
                <a:path h="264238" w="2545965">
                  <a:moveTo>
                    <a:pt x="40044" y="0"/>
                  </a:moveTo>
                  <a:lnTo>
                    <a:pt x="2505920" y="0"/>
                  </a:lnTo>
                  <a:cubicBezTo>
                    <a:pt x="2528036" y="0"/>
                    <a:pt x="2545965" y="17928"/>
                    <a:pt x="2545965" y="40044"/>
                  </a:cubicBezTo>
                  <a:lnTo>
                    <a:pt x="2545965" y="224194"/>
                  </a:lnTo>
                  <a:cubicBezTo>
                    <a:pt x="2545965" y="246310"/>
                    <a:pt x="2528036" y="264238"/>
                    <a:pt x="2505920" y="264238"/>
                  </a:cubicBezTo>
                  <a:lnTo>
                    <a:pt x="40044" y="264238"/>
                  </a:lnTo>
                  <a:cubicBezTo>
                    <a:pt x="17928" y="264238"/>
                    <a:pt x="0" y="246310"/>
                    <a:pt x="0" y="224194"/>
                  </a:cubicBezTo>
                  <a:lnTo>
                    <a:pt x="0" y="40044"/>
                  </a:lnTo>
                  <a:cubicBezTo>
                    <a:pt x="0" y="17928"/>
                    <a:pt x="17928" y="0"/>
                    <a:pt x="40044" y="0"/>
                  </a:cubicBezTo>
                  <a:close/>
                </a:path>
              </a:pathLst>
            </a:custGeom>
            <a:solidFill>
              <a:srgbClr val="3C7440"/>
            </a:solidFill>
          </p:spPr>
        </p:sp>
        <p:sp>
          <p:nvSpPr>
            <p:cNvPr name="TextBox 25" id="25"/>
            <p:cNvSpPr txBox="true"/>
            <p:nvPr/>
          </p:nvSpPr>
          <p:spPr>
            <a:xfrm>
              <a:off x="0" y="-76200"/>
              <a:ext cx="2545965" cy="340438"/>
            </a:xfrm>
            <a:prstGeom prst="rect">
              <a:avLst/>
            </a:prstGeom>
          </p:spPr>
          <p:txBody>
            <a:bodyPr anchor="ctr" rtlCol="false" tIns="50800" lIns="50800" bIns="50800" rIns="50800"/>
            <a:lstStyle/>
            <a:p>
              <a:pPr algn="ctr">
                <a:lnSpc>
                  <a:spcPts val="4759"/>
                </a:lnSpc>
              </a:pPr>
              <a:r>
                <a:rPr lang="en-US" b="true" sz="3399">
                  <a:solidFill>
                    <a:srgbClr val="FFFEF5"/>
                  </a:solidFill>
                  <a:latin typeface="Work Sans Bold"/>
                  <a:ea typeface="Work Sans Bold"/>
                  <a:cs typeface="Work Sans Bold"/>
                  <a:sym typeface="Work Sans Bold"/>
                </a:rPr>
                <a:t>Search Filtering</a:t>
              </a:r>
            </a:p>
          </p:txBody>
        </p:sp>
      </p:grpSp>
      <p:grpSp>
        <p:nvGrpSpPr>
          <p:cNvPr name="Group 26" id="26"/>
          <p:cNvGrpSpPr/>
          <p:nvPr/>
        </p:nvGrpSpPr>
        <p:grpSpPr>
          <a:xfrm rot="0">
            <a:off x="7592591" y="8255022"/>
            <a:ext cx="9666709" cy="1003278"/>
            <a:chOff x="0" y="0"/>
            <a:chExt cx="2545965" cy="264238"/>
          </a:xfrm>
        </p:grpSpPr>
        <p:sp>
          <p:nvSpPr>
            <p:cNvPr name="Freeform 27" id="27"/>
            <p:cNvSpPr/>
            <p:nvPr/>
          </p:nvSpPr>
          <p:spPr>
            <a:xfrm flipH="false" flipV="false" rot="0">
              <a:off x="0" y="0"/>
              <a:ext cx="2545965" cy="264238"/>
            </a:xfrm>
            <a:custGeom>
              <a:avLst/>
              <a:gdLst/>
              <a:ahLst/>
              <a:cxnLst/>
              <a:rect r="r" b="b" t="t" l="l"/>
              <a:pathLst>
                <a:path h="264238" w="2545965">
                  <a:moveTo>
                    <a:pt x="40044" y="0"/>
                  </a:moveTo>
                  <a:lnTo>
                    <a:pt x="2505920" y="0"/>
                  </a:lnTo>
                  <a:cubicBezTo>
                    <a:pt x="2528036" y="0"/>
                    <a:pt x="2545965" y="17928"/>
                    <a:pt x="2545965" y="40044"/>
                  </a:cubicBezTo>
                  <a:lnTo>
                    <a:pt x="2545965" y="224194"/>
                  </a:lnTo>
                  <a:cubicBezTo>
                    <a:pt x="2545965" y="246310"/>
                    <a:pt x="2528036" y="264238"/>
                    <a:pt x="2505920" y="264238"/>
                  </a:cubicBezTo>
                  <a:lnTo>
                    <a:pt x="40044" y="264238"/>
                  </a:lnTo>
                  <a:cubicBezTo>
                    <a:pt x="17928" y="264238"/>
                    <a:pt x="0" y="246310"/>
                    <a:pt x="0" y="224194"/>
                  </a:cubicBezTo>
                  <a:lnTo>
                    <a:pt x="0" y="40044"/>
                  </a:lnTo>
                  <a:cubicBezTo>
                    <a:pt x="0" y="17928"/>
                    <a:pt x="17928" y="0"/>
                    <a:pt x="40044" y="0"/>
                  </a:cubicBezTo>
                  <a:close/>
                </a:path>
              </a:pathLst>
            </a:custGeom>
            <a:solidFill>
              <a:srgbClr val="3C7440"/>
            </a:solidFill>
          </p:spPr>
        </p:sp>
        <p:sp>
          <p:nvSpPr>
            <p:cNvPr name="TextBox 28" id="28"/>
            <p:cNvSpPr txBox="true"/>
            <p:nvPr/>
          </p:nvSpPr>
          <p:spPr>
            <a:xfrm>
              <a:off x="0" y="-76200"/>
              <a:ext cx="2545965" cy="340438"/>
            </a:xfrm>
            <a:prstGeom prst="rect">
              <a:avLst/>
            </a:prstGeom>
          </p:spPr>
          <p:txBody>
            <a:bodyPr anchor="ctr" rtlCol="false" tIns="50800" lIns="50800" bIns="50800" rIns="50800"/>
            <a:lstStyle/>
            <a:p>
              <a:pPr algn="ctr">
                <a:lnSpc>
                  <a:spcPts val="4759"/>
                </a:lnSpc>
              </a:pPr>
              <a:r>
                <a:rPr lang="en-US" b="true" sz="3399">
                  <a:solidFill>
                    <a:srgbClr val="FFFEF5"/>
                  </a:solidFill>
                  <a:latin typeface="Work Sans Bold"/>
                  <a:ea typeface="Work Sans Bold"/>
                  <a:cs typeface="Work Sans Bold"/>
                  <a:sym typeface="Work Sans Bold"/>
                </a:rPr>
                <a:t>Granular Inspection</a:t>
              </a:r>
            </a:p>
          </p:txBody>
        </p:sp>
      </p:grpSp>
    </p:spTree>
  </p:cSld>
  <p:clrMapOvr>
    <a:masterClrMapping/>
  </p:clrMapOvr>
  <p:transition spd="slow">
    <p:push dir="u"/>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sp>
        <p:nvSpPr>
          <p:cNvPr name="Freeform 2" id="2"/>
          <p:cNvSpPr/>
          <p:nvPr/>
        </p:nvSpPr>
        <p:spPr>
          <a:xfrm flipH="false" flipV="false" rot="0">
            <a:off x="7034296" y="-526344"/>
            <a:ext cx="12204907" cy="11976065"/>
          </a:xfrm>
          <a:custGeom>
            <a:avLst/>
            <a:gdLst/>
            <a:ahLst/>
            <a:cxnLst/>
            <a:rect r="r" b="b" t="t" l="l"/>
            <a:pathLst>
              <a:path h="11976065" w="12204907">
                <a:moveTo>
                  <a:pt x="0" y="0"/>
                </a:moveTo>
                <a:lnTo>
                  <a:pt x="12204908" y="0"/>
                </a:lnTo>
                <a:lnTo>
                  <a:pt x="12204908" y="11976065"/>
                </a:lnTo>
                <a:lnTo>
                  <a:pt x="0" y="119760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1028700" y="1152773"/>
            <a:ext cx="10014005" cy="2552370"/>
            <a:chOff x="0" y="0"/>
            <a:chExt cx="3188951" cy="812800"/>
          </a:xfrm>
        </p:grpSpPr>
        <p:sp>
          <p:nvSpPr>
            <p:cNvPr name="Freeform 4" id="4"/>
            <p:cNvSpPr/>
            <p:nvPr/>
          </p:nvSpPr>
          <p:spPr>
            <a:xfrm flipH="false" flipV="false" rot="0">
              <a:off x="0" y="0"/>
              <a:ext cx="3188951" cy="812800"/>
            </a:xfrm>
            <a:custGeom>
              <a:avLst/>
              <a:gdLst/>
              <a:ahLst/>
              <a:cxnLst/>
              <a:rect r="r" b="b" t="t" l="l"/>
              <a:pathLst>
                <a:path h="812800" w="3188951">
                  <a:moveTo>
                    <a:pt x="38655" y="0"/>
                  </a:moveTo>
                  <a:lnTo>
                    <a:pt x="3150296" y="0"/>
                  </a:lnTo>
                  <a:cubicBezTo>
                    <a:pt x="3160548" y="0"/>
                    <a:pt x="3170380" y="4073"/>
                    <a:pt x="3177629" y="11322"/>
                  </a:cubicBezTo>
                  <a:cubicBezTo>
                    <a:pt x="3184879" y="18571"/>
                    <a:pt x="3188951" y="28403"/>
                    <a:pt x="3188951" y="38655"/>
                  </a:cubicBezTo>
                  <a:lnTo>
                    <a:pt x="3188951" y="774145"/>
                  </a:lnTo>
                  <a:cubicBezTo>
                    <a:pt x="3188951" y="784397"/>
                    <a:pt x="3184879" y="794229"/>
                    <a:pt x="3177629" y="801478"/>
                  </a:cubicBezTo>
                  <a:cubicBezTo>
                    <a:pt x="3170380" y="808727"/>
                    <a:pt x="3160548" y="812800"/>
                    <a:pt x="3150296" y="812800"/>
                  </a:cubicBezTo>
                  <a:lnTo>
                    <a:pt x="38655" y="812800"/>
                  </a:lnTo>
                  <a:cubicBezTo>
                    <a:pt x="28403" y="812800"/>
                    <a:pt x="18571" y="808727"/>
                    <a:pt x="11322" y="801478"/>
                  </a:cubicBezTo>
                  <a:cubicBezTo>
                    <a:pt x="4073" y="794229"/>
                    <a:pt x="0" y="784397"/>
                    <a:pt x="0" y="774145"/>
                  </a:cubicBezTo>
                  <a:lnTo>
                    <a:pt x="0" y="38655"/>
                  </a:lnTo>
                  <a:cubicBezTo>
                    <a:pt x="0" y="28403"/>
                    <a:pt x="4073" y="18571"/>
                    <a:pt x="11322" y="11322"/>
                  </a:cubicBezTo>
                  <a:cubicBezTo>
                    <a:pt x="18571" y="4073"/>
                    <a:pt x="28403" y="0"/>
                    <a:pt x="38655" y="0"/>
                  </a:cubicBezTo>
                  <a:close/>
                </a:path>
              </a:pathLst>
            </a:custGeom>
            <a:solidFill>
              <a:srgbClr val="3C7440"/>
            </a:solidFill>
          </p:spPr>
        </p:sp>
        <p:sp>
          <p:nvSpPr>
            <p:cNvPr name="TextBox 5" id="5"/>
            <p:cNvSpPr txBox="true"/>
            <p:nvPr/>
          </p:nvSpPr>
          <p:spPr>
            <a:xfrm>
              <a:off x="0" y="-95250"/>
              <a:ext cx="3188951" cy="908050"/>
            </a:xfrm>
            <a:prstGeom prst="rect">
              <a:avLst/>
            </a:prstGeom>
          </p:spPr>
          <p:txBody>
            <a:bodyPr anchor="ctr" rtlCol="false" tIns="50800" lIns="50800" bIns="50800" rIns="50800"/>
            <a:lstStyle/>
            <a:p>
              <a:pPr algn="ctr">
                <a:lnSpc>
                  <a:spcPts val="6439"/>
                </a:lnSpc>
              </a:pPr>
              <a:r>
                <a:rPr lang="en-US" b="true" sz="4599">
                  <a:solidFill>
                    <a:srgbClr val="FFFEF5"/>
                  </a:solidFill>
                  <a:latin typeface="Work Sans Ultra-Bold"/>
                  <a:ea typeface="Work Sans Ultra-Bold"/>
                  <a:cs typeface="Work Sans Ultra-Bold"/>
                  <a:sym typeface="Work Sans Ultra-Bold"/>
                </a:rPr>
                <a:t>Centralized Management</a:t>
              </a:r>
            </a:p>
          </p:txBody>
        </p:sp>
      </p:grpSp>
      <p:grpSp>
        <p:nvGrpSpPr>
          <p:cNvPr name="Group 6" id="6"/>
          <p:cNvGrpSpPr/>
          <p:nvPr/>
        </p:nvGrpSpPr>
        <p:grpSpPr>
          <a:xfrm rot="0">
            <a:off x="1028700" y="3867563"/>
            <a:ext cx="10014005" cy="2552370"/>
            <a:chOff x="0" y="0"/>
            <a:chExt cx="3188951" cy="812800"/>
          </a:xfrm>
        </p:grpSpPr>
        <p:sp>
          <p:nvSpPr>
            <p:cNvPr name="Freeform 7" id="7"/>
            <p:cNvSpPr/>
            <p:nvPr/>
          </p:nvSpPr>
          <p:spPr>
            <a:xfrm flipH="false" flipV="false" rot="0">
              <a:off x="0" y="0"/>
              <a:ext cx="3188951" cy="812800"/>
            </a:xfrm>
            <a:custGeom>
              <a:avLst/>
              <a:gdLst/>
              <a:ahLst/>
              <a:cxnLst/>
              <a:rect r="r" b="b" t="t" l="l"/>
              <a:pathLst>
                <a:path h="812800" w="3188951">
                  <a:moveTo>
                    <a:pt x="38655" y="0"/>
                  </a:moveTo>
                  <a:lnTo>
                    <a:pt x="3150296" y="0"/>
                  </a:lnTo>
                  <a:cubicBezTo>
                    <a:pt x="3160548" y="0"/>
                    <a:pt x="3170380" y="4073"/>
                    <a:pt x="3177629" y="11322"/>
                  </a:cubicBezTo>
                  <a:cubicBezTo>
                    <a:pt x="3184879" y="18571"/>
                    <a:pt x="3188951" y="28403"/>
                    <a:pt x="3188951" y="38655"/>
                  </a:cubicBezTo>
                  <a:lnTo>
                    <a:pt x="3188951" y="774145"/>
                  </a:lnTo>
                  <a:cubicBezTo>
                    <a:pt x="3188951" y="784397"/>
                    <a:pt x="3184879" y="794229"/>
                    <a:pt x="3177629" y="801478"/>
                  </a:cubicBezTo>
                  <a:cubicBezTo>
                    <a:pt x="3170380" y="808727"/>
                    <a:pt x="3160548" y="812800"/>
                    <a:pt x="3150296" y="812800"/>
                  </a:cubicBezTo>
                  <a:lnTo>
                    <a:pt x="38655" y="812800"/>
                  </a:lnTo>
                  <a:cubicBezTo>
                    <a:pt x="28403" y="812800"/>
                    <a:pt x="18571" y="808727"/>
                    <a:pt x="11322" y="801478"/>
                  </a:cubicBezTo>
                  <a:cubicBezTo>
                    <a:pt x="4073" y="794229"/>
                    <a:pt x="0" y="784397"/>
                    <a:pt x="0" y="774145"/>
                  </a:cubicBezTo>
                  <a:lnTo>
                    <a:pt x="0" y="38655"/>
                  </a:lnTo>
                  <a:cubicBezTo>
                    <a:pt x="0" y="28403"/>
                    <a:pt x="4073" y="18571"/>
                    <a:pt x="11322" y="11322"/>
                  </a:cubicBezTo>
                  <a:cubicBezTo>
                    <a:pt x="18571" y="4073"/>
                    <a:pt x="28403" y="0"/>
                    <a:pt x="38655" y="0"/>
                  </a:cubicBezTo>
                  <a:close/>
                </a:path>
              </a:pathLst>
            </a:custGeom>
            <a:solidFill>
              <a:srgbClr val="3C7440"/>
            </a:solidFill>
          </p:spPr>
        </p:sp>
        <p:sp>
          <p:nvSpPr>
            <p:cNvPr name="TextBox 8" id="8"/>
            <p:cNvSpPr txBox="true"/>
            <p:nvPr/>
          </p:nvSpPr>
          <p:spPr>
            <a:xfrm>
              <a:off x="0" y="-95250"/>
              <a:ext cx="3188951" cy="908050"/>
            </a:xfrm>
            <a:prstGeom prst="rect">
              <a:avLst/>
            </a:prstGeom>
          </p:spPr>
          <p:txBody>
            <a:bodyPr anchor="ctr" rtlCol="false" tIns="50800" lIns="50800" bIns="50800" rIns="50800"/>
            <a:lstStyle/>
            <a:p>
              <a:pPr algn="ctr">
                <a:lnSpc>
                  <a:spcPts val="6439"/>
                </a:lnSpc>
              </a:pPr>
              <a:r>
                <a:rPr lang="en-US" b="true" sz="4599">
                  <a:solidFill>
                    <a:srgbClr val="FFFEF5"/>
                  </a:solidFill>
                  <a:latin typeface="Work Sans Ultra-Bold"/>
                  <a:ea typeface="Work Sans Ultra-Bold"/>
                  <a:cs typeface="Work Sans Ultra-Bold"/>
                  <a:sym typeface="Work Sans Ultra-Bold"/>
                </a:rPr>
                <a:t>Bidirectional Synchronization</a:t>
              </a:r>
            </a:p>
          </p:txBody>
        </p:sp>
      </p:grpSp>
      <p:grpSp>
        <p:nvGrpSpPr>
          <p:cNvPr name="Group 9" id="9"/>
          <p:cNvGrpSpPr/>
          <p:nvPr/>
        </p:nvGrpSpPr>
        <p:grpSpPr>
          <a:xfrm rot="0">
            <a:off x="1028700" y="6581858"/>
            <a:ext cx="10014005" cy="2552370"/>
            <a:chOff x="0" y="0"/>
            <a:chExt cx="3188951" cy="812800"/>
          </a:xfrm>
        </p:grpSpPr>
        <p:sp>
          <p:nvSpPr>
            <p:cNvPr name="Freeform 10" id="10"/>
            <p:cNvSpPr/>
            <p:nvPr/>
          </p:nvSpPr>
          <p:spPr>
            <a:xfrm flipH="false" flipV="false" rot="0">
              <a:off x="0" y="0"/>
              <a:ext cx="3188951" cy="812800"/>
            </a:xfrm>
            <a:custGeom>
              <a:avLst/>
              <a:gdLst/>
              <a:ahLst/>
              <a:cxnLst/>
              <a:rect r="r" b="b" t="t" l="l"/>
              <a:pathLst>
                <a:path h="812800" w="3188951">
                  <a:moveTo>
                    <a:pt x="38655" y="0"/>
                  </a:moveTo>
                  <a:lnTo>
                    <a:pt x="3150296" y="0"/>
                  </a:lnTo>
                  <a:cubicBezTo>
                    <a:pt x="3160548" y="0"/>
                    <a:pt x="3170380" y="4073"/>
                    <a:pt x="3177629" y="11322"/>
                  </a:cubicBezTo>
                  <a:cubicBezTo>
                    <a:pt x="3184879" y="18571"/>
                    <a:pt x="3188951" y="28403"/>
                    <a:pt x="3188951" y="38655"/>
                  </a:cubicBezTo>
                  <a:lnTo>
                    <a:pt x="3188951" y="774145"/>
                  </a:lnTo>
                  <a:cubicBezTo>
                    <a:pt x="3188951" y="784397"/>
                    <a:pt x="3184879" y="794229"/>
                    <a:pt x="3177629" y="801478"/>
                  </a:cubicBezTo>
                  <a:cubicBezTo>
                    <a:pt x="3170380" y="808727"/>
                    <a:pt x="3160548" y="812800"/>
                    <a:pt x="3150296" y="812800"/>
                  </a:cubicBezTo>
                  <a:lnTo>
                    <a:pt x="38655" y="812800"/>
                  </a:lnTo>
                  <a:cubicBezTo>
                    <a:pt x="28403" y="812800"/>
                    <a:pt x="18571" y="808727"/>
                    <a:pt x="11322" y="801478"/>
                  </a:cubicBezTo>
                  <a:cubicBezTo>
                    <a:pt x="4073" y="794229"/>
                    <a:pt x="0" y="784397"/>
                    <a:pt x="0" y="774145"/>
                  </a:cubicBezTo>
                  <a:lnTo>
                    <a:pt x="0" y="38655"/>
                  </a:lnTo>
                  <a:cubicBezTo>
                    <a:pt x="0" y="28403"/>
                    <a:pt x="4073" y="18571"/>
                    <a:pt x="11322" y="11322"/>
                  </a:cubicBezTo>
                  <a:cubicBezTo>
                    <a:pt x="18571" y="4073"/>
                    <a:pt x="28403" y="0"/>
                    <a:pt x="38655" y="0"/>
                  </a:cubicBezTo>
                  <a:close/>
                </a:path>
              </a:pathLst>
            </a:custGeom>
            <a:solidFill>
              <a:srgbClr val="742622"/>
            </a:solidFill>
          </p:spPr>
        </p:sp>
        <p:sp>
          <p:nvSpPr>
            <p:cNvPr name="TextBox 11" id="11"/>
            <p:cNvSpPr txBox="true"/>
            <p:nvPr/>
          </p:nvSpPr>
          <p:spPr>
            <a:xfrm>
              <a:off x="0" y="-95250"/>
              <a:ext cx="3188951" cy="908050"/>
            </a:xfrm>
            <a:prstGeom prst="rect">
              <a:avLst/>
            </a:prstGeom>
          </p:spPr>
          <p:txBody>
            <a:bodyPr anchor="ctr" rtlCol="false" tIns="50800" lIns="50800" bIns="50800" rIns="50800"/>
            <a:lstStyle/>
            <a:p>
              <a:pPr algn="ctr">
                <a:lnSpc>
                  <a:spcPts val="6439"/>
                </a:lnSpc>
              </a:pPr>
              <a:r>
                <a:rPr lang="en-US" b="true" sz="4599">
                  <a:solidFill>
                    <a:srgbClr val="FFFEF5"/>
                  </a:solidFill>
                  <a:latin typeface="Work Sans Ultra-Bold"/>
                  <a:ea typeface="Work Sans Ultra-Bold"/>
                  <a:cs typeface="Work Sans Ultra-Bold"/>
                  <a:sym typeface="Work Sans Ultra-Bold"/>
                </a:rPr>
                <a:t>Official deployment into the live SPIDHIVE</a:t>
              </a:r>
            </a:p>
          </p:txBody>
        </p:sp>
      </p:grpSp>
    </p:spTree>
  </p:cSld>
  <p:clrMapOvr>
    <a:masterClrMapping/>
  </p:clrMapOvr>
  <p:transition spd="slow">
    <p:push dir="l"/>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EF5"/>
        </a:solidFill>
      </p:bgPr>
    </p:bg>
    <p:spTree>
      <p:nvGrpSpPr>
        <p:cNvPr id="1" name=""/>
        <p:cNvGrpSpPr/>
        <p:nvPr/>
      </p:nvGrpSpPr>
      <p:grpSpPr>
        <a:xfrm>
          <a:off x="0" y="0"/>
          <a:ext cx="0" cy="0"/>
          <a:chOff x="0" y="0"/>
          <a:chExt cx="0" cy="0"/>
        </a:xfrm>
      </p:grpSpPr>
      <p:sp>
        <p:nvSpPr>
          <p:cNvPr name="Freeform 2" id="2"/>
          <p:cNvSpPr/>
          <p:nvPr/>
        </p:nvSpPr>
        <p:spPr>
          <a:xfrm flipH="false" flipV="false" rot="0">
            <a:off x="10770827" y="2254469"/>
            <a:ext cx="5778062" cy="5778062"/>
          </a:xfrm>
          <a:custGeom>
            <a:avLst/>
            <a:gdLst/>
            <a:ahLst/>
            <a:cxnLst/>
            <a:rect r="r" b="b" t="t" l="l"/>
            <a:pathLst>
              <a:path h="5778062" w="5778062">
                <a:moveTo>
                  <a:pt x="0" y="0"/>
                </a:moveTo>
                <a:lnTo>
                  <a:pt x="5778063" y="0"/>
                </a:lnTo>
                <a:lnTo>
                  <a:pt x="5778063" y="5778062"/>
                </a:lnTo>
                <a:lnTo>
                  <a:pt x="0" y="5778062"/>
                </a:lnTo>
                <a:lnTo>
                  <a:pt x="0" y="0"/>
                </a:lnTo>
                <a:close/>
              </a:path>
            </a:pathLst>
          </a:custGeom>
          <a:blipFill>
            <a:blip r:embed="rId3"/>
            <a:stretch>
              <a:fillRect l="0" t="0" r="0" b="0"/>
            </a:stretch>
          </a:blipFill>
        </p:spPr>
      </p:sp>
      <p:sp>
        <p:nvSpPr>
          <p:cNvPr name="Freeform 3" id="3"/>
          <p:cNvSpPr/>
          <p:nvPr/>
        </p:nvSpPr>
        <p:spPr>
          <a:xfrm flipH="false" flipV="false" rot="0">
            <a:off x="1984107" y="-917306"/>
            <a:ext cx="17266931" cy="1834611"/>
          </a:xfrm>
          <a:custGeom>
            <a:avLst/>
            <a:gdLst/>
            <a:ahLst/>
            <a:cxnLst/>
            <a:rect r="r" b="b" t="t" l="l"/>
            <a:pathLst>
              <a:path h="1834611" w="17266931">
                <a:moveTo>
                  <a:pt x="0" y="0"/>
                </a:moveTo>
                <a:lnTo>
                  <a:pt x="17266931" y="0"/>
                </a:lnTo>
                <a:lnTo>
                  <a:pt x="17266931" y="1834612"/>
                </a:lnTo>
                <a:lnTo>
                  <a:pt x="0" y="18346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2728553"/>
            <a:ext cx="9163824" cy="4658443"/>
          </a:xfrm>
          <a:prstGeom prst="rect">
            <a:avLst/>
          </a:prstGeom>
        </p:spPr>
        <p:txBody>
          <a:bodyPr anchor="t" rtlCol="false" tIns="0" lIns="0" bIns="0" rIns="0">
            <a:spAutoFit/>
          </a:bodyPr>
          <a:lstStyle/>
          <a:p>
            <a:pPr algn="l">
              <a:lnSpc>
                <a:spcPts val="12414"/>
              </a:lnSpc>
              <a:spcBef>
                <a:spcPct val="0"/>
              </a:spcBef>
            </a:pPr>
            <a:r>
              <a:rPr lang="en-US" sz="8867">
                <a:solidFill>
                  <a:srgbClr val="742622"/>
                </a:solidFill>
                <a:latin typeface="Audiowide"/>
                <a:ea typeface="Audiowide"/>
                <a:cs typeface="Audiowide"/>
                <a:sym typeface="Audiowide"/>
              </a:rPr>
              <a:t>AI Model Zoo Module for SPIDHIVE</a:t>
            </a:r>
          </a:p>
        </p:txBody>
      </p:sp>
      <p:sp>
        <p:nvSpPr>
          <p:cNvPr name="TextBox 5" id="5"/>
          <p:cNvSpPr txBox="true"/>
          <p:nvPr/>
        </p:nvSpPr>
        <p:spPr>
          <a:xfrm rot="0">
            <a:off x="1028700" y="8736449"/>
            <a:ext cx="9742127" cy="521851"/>
          </a:xfrm>
          <a:prstGeom prst="rect">
            <a:avLst/>
          </a:prstGeom>
        </p:spPr>
        <p:txBody>
          <a:bodyPr anchor="t" rtlCol="false" tIns="0" lIns="0" bIns="0" rIns="0">
            <a:spAutoFit/>
          </a:bodyPr>
          <a:lstStyle/>
          <a:p>
            <a:pPr algn="ctr">
              <a:lnSpc>
                <a:spcPts val="4235"/>
              </a:lnSpc>
              <a:spcBef>
                <a:spcPct val="0"/>
              </a:spcBef>
            </a:pPr>
            <a:r>
              <a:rPr lang="en-US" b="true" sz="3025">
                <a:solidFill>
                  <a:srgbClr val="3C7440"/>
                </a:solidFill>
                <a:latin typeface="Work Sans Bold"/>
                <a:ea typeface="Work Sans Bold"/>
                <a:cs typeface="Work Sans Bold"/>
                <a:sym typeface="Work Sans Bold"/>
              </a:rPr>
              <a:t>NADINE ARABEL ANARETA &amp; VAL RANDOLF MADRID</a:t>
            </a:r>
          </a:p>
        </p:txBody>
      </p:sp>
    </p:spTree>
  </p:cSld>
  <p:clrMapOvr>
    <a:masterClrMapping/>
  </p:clrMapOvr>
  <p:transition spd="slow">
    <p:push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DAHJb4U0q_8</dc:identifier>
  <dcterms:modified xsi:type="dcterms:W3CDTF">2011-08-01T06:04:30Z</dcterms:modified>
  <cp:revision>1</cp:revision>
  <dc:title>CMSC190_NAAnareta_presentation</dc:title>
</cp:coreProperties>
</file>